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1"/>
  </p:notesMasterIdLst>
  <p:handoutMasterIdLst>
    <p:handoutMasterId r:id="rId42"/>
  </p:handoutMasterIdLst>
  <p:sldIdLst>
    <p:sldId id="278" r:id="rId5"/>
    <p:sldId id="282" r:id="rId6"/>
    <p:sldId id="295" r:id="rId7"/>
    <p:sldId id="271" r:id="rId8"/>
    <p:sldId id="283" r:id="rId9"/>
    <p:sldId id="284" r:id="rId10"/>
    <p:sldId id="286" r:id="rId11"/>
    <p:sldId id="287" r:id="rId12"/>
    <p:sldId id="293" r:id="rId13"/>
    <p:sldId id="294" r:id="rId14"/>
    <p:sldId id="285" r:id="rId15"/>
    <p:sldId id="288" r:id="rId16"/>
    <p:sldId id="296" r:id="rId17"/>
    <p:sldId id="298" r:id="rId18"/>
    <p:sldId id="299" r:id="rId19"/>
    <p:sldId id="320" r:id="rId20"/>
    <p:sldId id="300" r:id="rId21"/>
    <p:sldId id="318" r:id="rId22"/>
    <p:sldId id="301" r:id="rId23"/>
    <p:sldId id="302" r:id="rId24"/>
    <p:sldId id="303" r:id="rId25"/>
    <p:sldId id="305" r:id="rId26"/>
    <p:sldId id="304" r:id="rId27"/>
    <p:sldId id="306" r:id="rId28"/>
    <p:sldId id="308" r:id="rId29"/>
    <p:sldId id="307" r:id="rId30"/>
    <p:sldId id="309" r:id="rId31"/>
    <p:sldId id="313" r:id="rId32"/>
    <p:sldId id="311" r:id="rId33"/>
    <p:sldId id="312" r:id="rId34"/>
    <p:sldId id="314" r:id="rId35"/>
    <p:sldId id="315" r:id="rId36"/>
    <p:sldId id="317" r:id="rId37"/>
    <p:sldId id="316" r:id="rId38"/>
    <p:sldId id="319" r:id="rId39"/>
    <p:sldId id="292" r:id="rId40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3BE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5388" autoAdjust="0"/>
  </p:normalViewPr>
  <p:slideViewPr>
    <p:cSldViewPr snapToGrid="0">
      <p:cViewPr varScale="1">
        <p:scale>
          <a:sx n="73" d="100"/>
          <a:sy n="73" d="100"/>
        </p:scale>
        <p:origin x="641" y="55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A2661D89-2535-43DF-BD6D-0DECFACAC0B2}" type="datetime1">
              <a:rPr lang="de-DE" smtClean="0"/>
              <a:t>20.06.2026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CFA70580-B89C-4157-871D-6B9318EE5F58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7C6030AF-4347-4F6A-861E-8AEA70B77203}" type="datetime1">
              <a:rPr lang="de-DE" smtClean="0"/>
              <a:t>20.06.2026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E7AF00E9-A49D-4007-B3B9-A3783809E505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30AB-8FFF-CCB0-C6DA-F03F74CD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A01419-90F7-9ECA-5C8F-FEB75747B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20487F-D9CB-B772-7FA6-04B8AA3E0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B73365-5136-1821-C66F-2CCC62D14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3023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F020-DCF5-C161-8D83-25CCF609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F21CF0-D3AD-FA82-B3B7-D4279EA4E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D08EE07-6458-44C8-224E-6C2617B60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C60773-5A16-A7C0-F274-2607325C5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8620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B050-E0A1-112D-DD7E-3D430BA6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F1098A-45DA-0AC4-6F81-4D4D85F2B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DEB41E-A57D-905C-49FA-CFA9264CD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206B3F-CFFE-6CE4-E3E1-D1BBB6DB3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5397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0019-03A6-D7EA-0F34-C6B91B57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CC4B7F-2847-EB2D-E1A3-CDA72B8E3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6FCABB-71DC-841D-DD0B-6F497D4F9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ED02A-84E1-7CC2-0E82-E0CCD13E3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6834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1CB4-3873-BF4D-3CBD-C98EA25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247049-44D8-3C62-B406-92D2DB15A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9CF857A-5F43-C406-3DCB-589FFFAD5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D79BA8-370F-67B0-C5B9-D9068BEF4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263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95C-497C-76A6-2A0A-C76460B4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7AE579-4B3B-321D-F373-7553B4538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72E97B-113E-A16F-E9E5-A282F825F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442AD3-D7AF-AC6B-8E72-BC26FD843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403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1A2F8-D052-751B-053C-24F8C310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DA4698-D65A-A4AB-C4EA-4DBD213A6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FD8AA1C-B371-F0C7-0FF1-5FBE671F5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E37D20-BE60-406A-A843-050E45A92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6695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6E19-5A1A-D04A-44BF-E6A9EB2C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E946C3-28E3-1797-58F5-E3EA0C539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BEE5B0-C62F-7973-BCA1-F8E3A1F97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5832DD-3D0C-D97D-2E43-650A2FEE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935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081E-D795-7F13-CEF6-3FEE4AA0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0281E7-907A-DE44-B4CD-34CB7309E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EEE4BB-AAEC-256F-40BE-14F336195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2893F0-194C-D137-36DC-70B18D4EF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523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AC33-F270-087B-4361-0F3CFF1B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BBAD9B5-D245-86A8-973F-31DB510D0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76EF46-4ED3-3FC9-EE78-2C1D55266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A580D6-7A88-46CE-05D5-741EDDDB2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5519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C06A-91B6-89FD-7A71-78129B4A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3F4233B-E28C-B674-FD68-7636B7C04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0B68C2-A7C7-78F8-C6FE-70A0261E0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D3ADFA-E185-BC03-3917-DAB79FCB4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9868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F297-7789-93F3-69FC-05FEDEE7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15D96F-AB38-F07F-1CF0-A4E8A7225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8BBBEF-485D-C5A3-987C-023753BA0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338FE6-B9AB-4AB3-CEE3-D19066A63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4281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8739-9256-C0F6-570B-6F270482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010458-3897-68A1-CB3A-9443B9ACC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4EB078-BCD4-79DE-07C4-2CD249D07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726E0B-B749-9FFC-5967-F2503E36D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9218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7FF8-3880-A9F5-0315-7A843B895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D593B4-EFF5-CB9F-4ED5-DAC986618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CBA894B-C306-FEE9-6185-A6A86D2E1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C7D5D4-0014-C7B1-C214-6095A95BF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41282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B909-78CB-EC9D-1D0A-F58425E8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D6FCFC-4C7D-B580-63E7-4BF5D318A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4A5FE4-835C-9551-077F-D89D519AF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441C4D-1CF9-CD24-0CAD-5C8367909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19210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DB96-D49A-533D-1A7C-1C19FA9E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DF7FCD-F397-4515-A92D-143410B11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30EA4EF-6BCD-E8FB-0B39-6FDEAB1C1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6F475D-8680-40C2-05B5-0B3FEEF97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3893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A1C2-2407-D0B1-75D4-CA3BD018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ED0982-9398-0B77-8A0D-C19F432C7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05F2619-A18F-F882-8546-A8A0DDD29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980B5B-7A6B-D608-77F2-0F606924F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2989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34DB-F76B-3916-0868-A0484E8B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97E333-D570-761F-537E-A4476BC48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B50725-3852-994B-E18D-44C3240B8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CF0253-4AAB-519B-E6DF-83C41E12E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1520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7867-955F-176A-DBC9-A2438C60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57B068-6C4A-5D59-F5F7-207C9BFE6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C5510E-4BBA-B238-31DE-7BAAB0E91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CE4A5-486C-A738-61E8-3A102236F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1147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DD4D-AE7A-626B-BBBA-269631C2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36C3E2E-9309-7F4C-5F52-59F8549E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78E319D-8716-004D-4F9C-FCCEFF8DD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25E509-55D9-0698-626D-C52986822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63445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0276-BA6D-C2D4-F6A8-6DE9BA73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8EBB32D-DEF5-96DB-6A11-30B7CE582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628D24-8009-DA7D-EAF7-5A67D0ED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CAE44F-B991-2604-5AF4-02ED62E3F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49739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CDEE-C934-29BB-FD59-FD557F6F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CE6FA6-B44D-8C9C-8BBD-F485A9026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23A0E41-FAF3-0800-1A62-8125F84D4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695C47-28D6-E362-31B7-2E12E330C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8773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8680-E57F-2DBB-AE33-535B76B7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F1723FC-8C0D-77FD-7121-C1A7FAF4C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7C4A8F-46F7-E228-079D-550FDA973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F82DA4-0358-5926-D1CF-F14E4923B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10811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9BE6-BD66-D72C-F2CA-14F13D81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3D65AD-483E-3C83-C12D-32065E2DB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A188CF4-4D16-B6B0-F53E-7DC6570FB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8E83B3-A122-6BC3-4CAC-931050D4C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52065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A6B8-C842-5C85-C235-9AE9753D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2827E6-0AAD-82C7-646D-3015CC9F5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AFC614-651F-AF2E-950F-03BD6B159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E64768-F607-E388-0C10-C3B2F17EC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4984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4963-5A55-B91C-6A0A-D1E2E22C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52FED6-A590-9A42-FB02-8886C85B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2BB0045-6007-2864-E27A-D07F5D1A8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DE54EF-EB4C-540E-BF49-5C80F2915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8979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de-DE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esordn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el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Inhalt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1" name="El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ihandform: Form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ihandform: Form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ihandform: Form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de-DE" sz="5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Unter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3" name="Freihand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8" name="Bildplatzhalt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ihandform: Form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ihandform: Form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ihandform: Form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de-DE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de-DE" sz="5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Bil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de-DE" sz="1800">
                <a:solidFill>
                  <a:schemeClr val="tx1"/>
                </a:solidFill>
              </a:defRPr>
            </a:lvl1pPr>
            <a:lvl2pPr algn="r">
              <a:defRPr lang="de-DE" sz="1200">
                <a:solidFill>
                  <a:schemeClr val="tx1"/>
                </a:solidFill>
              </a:defRPr>
            </a:lvl2pPr>
            <a:lvl3pPr algn="r">
              <a:defRPr lang="de-DE" sz="1200">
                <a:solidFill>
                  <a:schemeClr val="tx1"/>
                </a:solidFill>
              </a:defRPr>
            </a:lvl3pPr>
            <a:lvl4pPr algn="r">
              <a:defRPr lang="de-DE" sz="1200">
                <a:solidFill>
                  <a:schemeClr val="tx1"/>
                </a:solidFill>
              </a:defRPr>
            </a:lvl4pPr>
            <a:lvl5pPr algn="r"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ihand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0" name="Freihand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Freihand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ihandform: Form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Freihandform: Form 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de-DE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ihandform: Form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de-DE" sz="6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6" name="Freihandform: Form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de-DE"/>
            </a:defPPr>
          </a:lstStyle>
          <a:p>
            <a:pPr lvl="0" rtl="0">
              <a:lnSpc>
                <a:spcPct val="100000"/>
              </a:lnSpc>
            </a:pPr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>
              <a:lnSpc>
                <a:spcPct val="150000"/>
              </a:lnSpc>
            </a:pPr>
            <a:r>
              <a:rPr lang="de-DE" dirty="0"/>
              <a:t>UNO Arena</a:t>
            </a:r>
            <a:br>
              <a:rPr lang="de-DE" dirty="0"/>
            </a:br>
            <a:r>
              <a:rPr lang="de-DE" sz="2400" dirty="0"/>
              <a:t>KI-Agenten verstehen </a:t>
            </a:r>
            <a:r>
              <a:rPr lang="de-DE" sz="1800" dirty="0"/>
              <a:t>anhand eines Praxisbeispiels</a:t>
            </a:r>
            <a:r>
              <a:rPr lang="de-DE" sz="2400" dirty="0"/>
              <a:t> </a:t>
            </a:r>
            <a:r>
              <a:rPr lang="de-DE" sz="1400" dirty="0"/>
              <a:t>wobei zwei Agenten in einem</a:t>
            </a:r>
            <a:r>
              <a:rPr lang="de-DE" sz="2400" dirty="0"/>
              <a:t> </a:t>
            </a:r>
            <a:r>
              <a:rPr lang="de-DE" sz="1000" dirty="0"/>
              <a:t>lokalen Netzwerk zur Belustigung</a:t>
            </a:r>
            <a:r>
              <a:rPr lang="de-DE" sz="2400" dirty="0"/>
              <a:t> </a:t>
            </a:r>
            <a:r>
              <a:rPr lang="de-DE" sz="600" dirty="0"/>
              <a:t>der Sebb-Studierenden gegeneinander</a:t>
            </a:r>
            <a:r>
              <a:rPr lang="de-DE" sz="2400" dirty="0"/>
              <a:t> </a:t>
            </a:r>
            <a:r>
              <a:rPr lang="de-DE" sz="400" dirty="0"/>
              <a:t>UNO spielen</a:t>
            </a:r>
          </a:p>
        </p:txBody>
      </p:sp>
      <p:pic>
        <p:nvPicPr>
          <p:cNvPr id="8" name="Bildplatzhalter 13" descr="Digitaler Hintergrund für Datenpunkte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D4E32C-93C2-5F22-C3FE-C6298A1D26E6}"/>
              </a:ext>
            </a:extLst>
          </p:cNvPr>
          <p:cNvSpPr txBox="1"/>
          <p:nvPr/>
        </p:nvSpPr>
        <p:spPr>
          <a:xfrm>
            <a:off x="9944561" y="5681742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Huber Daniel</a:t>
            </a:r>
          </a:p>
          <a:p>
            <a:pPr algn="r"/>
            <a:r>
              <a:rPr lang="en-US" sz="1400" dirty="0"/>
              <a:t>Starlinger Maximilian</a:t>
            </a:r>
            <a:endParaRPr lang="en-AT" sz="1400" dirty="0"/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073027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KI-Agenten sind mehr als nur ein LLM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9DDB041-36E9-80BB-3138-72A86F890EDF}"/>
              </a:ext>
            </a:extLst>
          </p:cNvPr>
          <p:cNvSpPr txBox="1">
            <a:spLocks/>
          </p:cNvSpPr>
          <p:nvPr/>
        </p:nvSpPr>
        <p:spPr>
          <a:xfrm>
            <a:off x="758031" y="2044700"/>
            <a:ext cx="5545137" cy="391318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Hat ein LLM als Inhalt</a:t>
            </a:r>
          </a:p>
          <a:p>
            <a:pPr marL="971550" lvl="1" indent="-285750"/>
            <a:r>
              <a:rPr lang="de-DE" sz="2400" dirty="0"/>
              <a:t>denkt, entscheidet, formuliert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System Prompt</a:t>
            </a:r>
          </a:p>
          <a:p>
            <a:pPr marL="971550" lvl="1" indent="-285750"/>
            <a:r>
              <a:rPr lang="de-DE" sz="2400" dirty="0"/>
              <a:t>Regeln und Rolle des Agenten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Tools</a:t>
            </a:r>
          </a:p>
          <a:p>
            <a:pPr marL="971550" lvl="1" indent="-285750"/>
            <a:r>
              <a:rPr lang="de-DE" sz="2400" dirty="0"/>
              <a:t>z.B. Datei schreiben, API aufrufen, Datenbank abfragen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FE91-5407-8DD4-2106-367E2FED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3C935-B626-8079-5EE3-F457EFD5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073027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KI-Agenten sind mehr als nur ein LLM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68EFB1F-B9AB-BB03-DC0A-89D6D1A4AFD0}"/>
              </a:ext>
            </a:extLst>
          </p:cNvPr>
          <p:cNvSpPr txBox="1">
            <a:spLocks/>
          </p:cNvSpPr>
          <p:nvPr/>
        </p:nvSpPr>
        <p:spPr>
          <a:xfrm>
            <a:off x="770731" y="2019300"/>
            <a:ext cx="6017419" cy="39131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Speicher / Zustand merkt sich Zwischenergebnisse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Entscheidungslogik</a:t>
            </a:r>
          </a:p>
          <a:p>
            <a:pPr marL="971550" lvl="1" indent="-285750"/>
            <a:r>
              <a:rPr lang="de-DE" sz="2400" dirty="0"/>
              <a:t>wählt nächste Aktion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Umgebung</a:t>
            </a:r>
          </a:p>
          <a:p>
            <a:pPr marL="971550" lvl="1" indent="-285750"/>
            <a:r>
              <a:rPr lang="de-DE" sz="2400" dirty="0"/>
              <a:t>Spiel, Web-App, API, Dateisystem usw.</a:t>
            </a:r>
          </a:p>
        </p:txBody>
      </p:sp>
    </p:spTree>
    <p:extLst>
      <p:ext uri="{BB962C8B-B14F-4D97-AF65-F5344CB8AC3E}">
        <p14:creationId xmlns:p14="http://schemas.microsoft.com/office/powerpoint/2010/main" val="89780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de-DE"/>
            </a:defPPr>
          </a:lstStyle>
          <a:p>
            <a:pPr algn="ctr" rtl="0"/>
            <a:r>
              <a:rPr lang="de-DE" dirty="0"/>
              <a:t>Die Grundbausteine eines</a:t>
            </a:r>
            <a:br>
              <a:rPr lang="de-DE" dirty="0"/>
            </a:br>
            <a:r>
              <a:rPr lang="de-DE" dirty="0"/>
              <a:t>KI-Agenten</a:t>
            </a:r>
          </a:p>
        </p:txBody>
      </p:sp>
      <p:pic>
        <p:nvPicPr>
          <p:cNvPr id="11" name="Bildplatzhalter 15" descr="Digitaler Hintergrund für Datenpunkte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5386721" cy="1120558"/>
          </a:xfrm>
          <a:noFill/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Large Language Model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71" y="2358189"/>
            <a:ext cx="4572166" cy="3499367"/>
          </a:xfrm>
          <a:noFill/>
        </p:spPr>
        <p:txBody>
          <a:bodyPr rtlCol="0"/>
          <a:lstStyle>
            <a:defPPr>
              <a:defRPr lang="de-DE"/>
            </a:defPPr>
          </a:lstStyle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Das Gehirn des Agenten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Versteht Eingaben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Trifft Entscheidungen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Erzeugt Antworten/Befehle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Für Aktionen sind Tools nötig</a:t>
            </a:r>
          </a:p>
          <a:p>
            <a:pPr rtl="0"/>
            <a:endParaRPr lang="de-DE" dirty="0"/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CBAEA433-EF0C-C41A-A993-54AAE65E90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rgbClr val="A3A3C1"/>
          </a:solidFill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System Prompt – Regeln und Rollen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58E4F04-6136-1AD7-597E-1D462CE2FC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99" y="2097175"/>
            <a:ext cx="4756726" cy="3995650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5F882D8-C37F-2269-5001-3B183870B3F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Rolle</a:t>
            </a:r>
          </a:p>
          <a:p>
            <a:pPr algn="ctr"/>
            <a:r>
              <a:rPr lang="en-US" sz="2800" dirty="0"/>
              <a:t>Aufgabe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 err="1"/>
              <a:t>Regeln</a:t>
            </a:r>
            <a:endParaRPr lang="en-US" sz="28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2622E9BC-EEA9-05E2-686E-94A278932F7D}"/>
              </a:ext>
            </a:extLst>
          </p:cNvPr>
          <p:cNvCxnSpPr/>
          <p:nvPr/>
        </p:nvCxnSpPr>
        <p:spPr>
          <a:xfrm flipH="1">
            <a:off x="5775158" y="2538663"/>
            <a:ext cx="240030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6C28E76-5411-B783-08B3-BBA55A21DD1A}"/>
              </a:ext>
            </a:extLst>
          </p:cNvPr>
          <p:cNvCxnSpPr/>
          <p:nvPr/>
        </p:nvCxnSpPr>
        <p:spPr>
          <a:xfrm flipH="1">
            <a:off x="5775158" y="3124200"/>
            <a:ext cx="240030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7260685-EEA3-F8C3-AB8D-84918A644568}"/>
              </a:ext>
            </a:extLst>
          </p:cNvPr>
          <p:cNvCxnSpPr/>
          <p:nvPr/>
        </p:nvCxnSpPr>
        <p:spPr>
          <a:xfrm flipH="1">
            <a:off x="5775158" y="5400173"/>
            <a:ext cx="240030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969A451-E77F-EDBD-AEC9-FE731861BB3C}"/>
              </a:ext>
            </a:extLst>
          </p:cNvPr>
          <p:cNvCxnSpPr>
            <a:cxnSpLocks/>
          </p:cNvCxnSpPr>
          <p:nvPr/>
        </p:nvCxnSpPr>
        <p:spPr>
          <a:xfrm flipH="1" flipV="1">
            <a:off x="5775158" y="4415589"/>
            <a:ext cx="2400300" cy="984584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Einfaches Tool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D18FADC8-8A0C-B1C8-A179-9B4CEFB9B1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69909" y="2006379"/>
            <a:ext cx="5016758" cy="3695890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2800" dirty="0"/>
              <a:t>Verbindet Agenten mit LLM</a:t>
            </a:r>
          </a:p>
          <a:p>
            <a:pPr rtl="0"/>
            <a:endParaRPr lang="de-DE" sz="2800" dirty="0"/>
          </a:p>
          <a:p>
            <a:pPr rtl="0"/>
            <a:r>
              <a:rPr lang="de-DE" sz="2800" dirty="0"/>
              <a:t>Schickt Anfrage an </a:t>
            </a:r>
            <a:r>
              <a:rPr lang="de-DE" sz="2800" dirty="0" err="1"/>
              <a:t>Ollama</a:t>
            </a:r>
            <a:endParaRPr lang="de-DE" sz="2800" dirty="0"/>
          </a:p>
          <a:p>
            <a:pPr rtl="0"/>
            <a:endParaRPr lang="de-DE" sz="2800" dirty="0"/>
          </a:p>
          <a:p>
            <a:pPr rtl="0"/>
            <a:r>
              <a:rPr lang="de-DE" sz="2800" dirty="0"/>
              <a:t>Bekommt Antwort zurück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Speicher / Zustand</a:t>
            </a:r>
            <a:br>
              <a:rPr lang="de-DE" dirty="0"/>
            </a:br>
            <a:r>
              <a:rPr lang="de-DE" dirty="0"/>
              <a:t>Zwischenergebnisse merken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453639"/>
            <a:ext cx="5435600" cy="3639185"/>
          </a:xfrm>
        </p:spPr>
        <p:txBody>
          <a:bodyPr rtlCol="0"/>
          <a:lstStyle>
            <a:defPPr>
              <a:defRPr lang="de-DE"/>
            </a:defPPr>
          </a:lstStyle>
          <a:p>
            <a:pPr lvl="1" rtl="0"/>
            <a:r>
              <a:rPr lang="de-DE" dirty="0"/>
              <a:t>Kurzzeit-Kontext – aktueller Chat, eventuell von der vorherigen Nachricht noch mitgegeben</a:t>
            </a:r>
          </a:p>
          <a:p>
            <a:pPr lvl="1" rtl="0"/>
            <a:r>
              <a:rPr lang="de-DE" dirty="0"/>
              <a:t>Externer Speicher – Datenbanken, Dateien (</a:t>
            </a:r>
            <a:r>
              <a:rPr lang="de-DE" dirty="0" err="1"/>
              <a:t>zB</a:t>
            </a:r>
            <a:r>
              <a:rPr lang="de-DE" dirty="0"/>
              <a:t>. </a:t>
            </a:r>
            <a:r>
              <a:rPr lang="de-DE" dirty="0" err="1"/>
              <a:t>memory.json</a:t>
            </a:r>
            <a:r>
              <a:rPr lang="de-DE" dirty="0"/>
              <a:t> </a:t>
            </a:r>
            <a:r>
              <a:rPr lang="de-DE" dirty="0" err="1"/>
              <a:t>history.json</a:t>
            </a:r>
            <a:r>
              <a:rPr lang="de-DE" dirty="0"/>
              <a:t>)</a:t>
            </a:r>
          </a:p>
          <a:p>
            <a:pPr lvl="1" rtl="0"/>
            <a:r>
              <a:rPr lang="de-DE" dirty="0"/>
              <a:t>Programmzustand – Variablen, aktuelle Position im Spiel</a:t>
            </a:r>
          </a:p>
          <a:p>
            <a:pPr lvl="1" rtl="0"/>
            <a:r>
              <a:rPr lang="de-DE" dirty="0"/>
              <a:t>Tool-Ergebnisse</a:t>
            </a:r>
          </a:p>
          <a:p>
            <a:pPr lvl="1"/>
            <a:r>
              <a:rPr lang="de-DE" dirty="0" err="1"/>
              <a:t>Longtime</a:t>
            </a:r>
            <a:r>
              <a:rPr lang="de-DE" dirty="0"/>
              <a:t>-Memory – Datenbanken, Dateien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138EDB83-8155-617C-EA30-9668F435C2EF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58" y="2453639"/>
            <a:ext cx="5033962" cy="287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32938-2957-58C7-10C2-1221F521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88AED76-02DD-6D33-17F2-BB5361A9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773024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Sehr simple Entscheidungslogik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0AE9563-1C7C-5851-7EF2-B3B1E0765E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2888" y="1497535"/>
            <a:ext cx="4435545" cy="4662746"/>
          </a:xfrm>
          <a:prstGeom prst="rect">
            <a:avLst/>
          </a:prstGeom>
        </p:spPr>
      </p:pic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41121D13-B4BF-91D9-4008-1B5B63914A47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569" y="1497535"/>
            <a:ext cx="4527017" cy="452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55EB-3BC6-B5A0-2735-DD5EF6AF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E76DC4E-2D3B-F875-D948-827EEF1A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773024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Umgebungen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7461B8F-C142-EF85-B61D-CEBD172237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2563988"/>
            <a:ext cx="5435600" cy="3061937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4CD47AC-C5DB-1AEC-B306-35A7FD3B5C3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/>
              <a:t>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 err="1"/>
              <a:t>WebApp</a:t>
            </a:r>
            <a:endParaRPr lang="de-A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/>
              <a:t>Game / </a:t>
            </a:r>
            <a:r>
              <a:rPr lang="de-AT" sz="2800" dirty="0" err="1"/>
              <a:t>GameStatus</a:t>
            </a:r>
            <a:endParaRPr lang="de-A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 err="1"/>
              <a:t>DatenBank</a:t>
            </a:r>
            <a:endParaRPr lang="de-A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/>
              <a:t>Chat</a:t>
            </a:r>
          </a:p>
        </p:txBody>
      </p:sp>
    </p:spTree>
    <p:extLst>
      <p:ext uri="{BB962C8B-B14F-4D97-AF65-F5344CB8AC3E}">
        <p14:creationId xmlns:p14="http://schemas.microsoft.com/office/powerpoint/2010/main" val="411735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7" descr="Digitaler Hintergrund für Datenpunkte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Quick Installation </a:t>
            </a:r>
            <a:r>
              <a:rPr lang="de-DE" dirty="0" err="1"/>
              <a:t>of</a:t>
            </a:r>
            <a:r>
              <a:rPr lang="de-DE" dirty="0"/>
              <a:t> a simple lokal KI-Agent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8822" y="562130"/>
            <a:ext cx="5335090" cy="5688767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Python installieren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(Virtuelle Umgebung erstellen –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practice</a:t>
            </a:r>
            <a:r>
              <a:rPr lang="de-DE" dirty="0"/>
              <a:t>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 err="1"/>
              <a:t>Ollama</a:t>
            </a:r>
            <a:r>
              <a:rPr lang="de-DE" dirty="0"/>
              <a:t> installieren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Modell herunterladen – z.B. </a:t>
            </a:r>
            <a:r>
              <a:rPr lang="de-DE" dirty="0" err="1"/>
              <a:t>ollama</a:t>
            </a:r>
            <a:r>
              <a:rPr lang="de-DE" dirty="0"/>
              <a:t> pull </a:t>
            </a:r>
            <a:r>
              <a:rPr lang="de-DE" dirty="0" err="1"/>
              <a:t>llama</a:t>
            </a:r>
            <a:r>
              <a:rPr lang="de-DE" dirty="0"/>
              <a:t> 3.2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KI-Agent programmieren / oder einen „Kollegen“ programmieren lassen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Python-Agent verwendet </a:t>
            </a:r>
            <a:r>
              <a:rPr lang="de-DE" dirty="0" err="1"/>
              <a:t>llama</a:t>
            </a:r>
            <a:r>
              <a:rPr lang="de-DE" dirty="0"/>
              <a:t> 3.2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Inkl. </a:t>
            </a:r>
            <a:r>
              <a:rPr lang="de-DE" dirty="0" err="1"/>
              <a:t>SystemPromts</a:t>
            </a:r>
            <a:r>
              <a:rPr lang="de-DE" dirty="0"/>
              <a:t>, Tools, Speicher, Logik, Umgebung</a:t>
            </a:r>
          </a:p>
          <a:p>
            <a:pPr rtl="0"/>
            <a:endParaRPr lang="de-DE" dirty="0"/>
          </a:p>
        </p:txBody>
      </p:sp>
      <p:pic>
        <p:nvPicPr>
          <p:cNvPr id="20" name="Bildplatzhalter 19" descr="Nahaufnahme eines Diagramms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0AB5B2C-AAFE-A929-4FBF-2EC9D5E5F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462" y="4840502"/>
            <a:ext cx="3791145" cy="46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6B50-757D-002D-731B-21E2E68F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platzhalter 15" descr="Digitaler Hintergrund für Datenpunkte">
            <a:extLst>
              <a:ext uri="{FF2B5EF4-FFF2-40B4-BE49-F238E27FC236}">
                <a16:creationId xmlns:a16="http://schemas.microsoft.com/office/drawing/2014/main" id="{D0F2C404-BD57-8FD0-7B59-03FDD57C0B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585946A-5C97-81FF-8A95-5C59C16A1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Praxisbeispiel</a:t>
            </a:r>
            <a:r>
              <a:rPr lang="en-US" dirty="0"/>
              <a:t> – UNO Agent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845470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6385-A48B-2213-EFD9-91B70DA0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9F48E4-E312-2335-746A-05827157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Aufbau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977313-65CF-32C7-CBF4-F57B9F07F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790" y="3336212"/>
            <a:ext cx="1773940" cy="17647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7A1AB1-EB75-502D-A7C2-80E4394BD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048" y="3336212"/>
            <a:ext cx="1773940" cy="17647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FA6FCA-6692-3044-6455-1ABFABFC7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059" y="1756991"/>
            <a:ext cx="1942443" cy="19424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E17CFB-B422-E68A-FE7C-61E698721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370" y="3023752"/>
            <a:ext cx="2795839" cy="27958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08E073-009A-B5C7-63EA-276D837A4E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350" y="1887636"/>
            <a:ext cx="1773940" cy="17647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7B72C18-9BF6-1F3A-793D-DD2FD5E79D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291" y="1874299"/>
            <a:ext cx="1773940" cy="1764796"/>
          </a:xfrm>
          <a:prstGeom prst="rect">
            <a:avLst/>
          </a:prstGeom>
        </p:spPr>
      </p:pic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232F5EF2-4AE1-1765-A13E-0CD918855239}"/>
              </a:ext>
            </a:extLst>
          </p:cNvPr>
          <p:cNvSpPr/>
          <p:nvPr/>
        </p:nvSpPr>
        <p:spPr>
          <a:xfrm rot="19746807">
            <a:off x="5925312" y="3336212"/>
            <a:ext cx="1330036" cy="540844"/>
          </a:xfrm>
          <a:prstGeom prst="leftRightArrow">
            <a:avLst>
              <a:gd name="adj1" fmla="val 26330"/>
              <a:gd name="adj2" fmla="val 60144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09182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40E1-F468-207F-9565-8D7A54D6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31233-F607-739C-1334-D2138B0D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EF617E-7BA8-E034-ADCA-755B35AA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966" y="2583624"/>
            <a:ext cx="9332068" cy="1690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50B0EF-ADCA-AA04-EE8B-5857FC729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97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02EF-9A3A-0DAD-1BC9-8B7F0D5A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C883D-7E6A-AE3D-BE39-01A9B1D8D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772" y="1325713"/>
            <a:ext cx="6880696" cy="42065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B8F2FA-5F5C-4C6B-EFFB-C4B8A841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074BE-786A-77BF-2C31-644E9B438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30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1891-A70D-1EF4-E552-C443EEEE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82BD8-9307-ED80-EF8F-1E51CC42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B33CB-AC4E-242D-BD3F-A7F54378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309806"/>
            <a:ext cx="6880696" cy="42383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A5B28-64C1-BDE4-DD09-5031695F9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43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1176-72FF-A76C-2163-AD53A5A8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8567D-CDC5-94BA-E96F-853E1AB7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E663D8-F784-C1E3-9A7E-63527EAB5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309806"/>
            <a:ext cx="6880696" cy="423838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A14310-B59C-CD41-F42F-9F859B63C4D8}"/>
              </a:ext>
            </a:extLst>
          </p:cNvPr>
          <p:cNvCxnSpPr/>
          <p:nvPr/>
        </p:nvCxnSpPr>
        <p:spPr>
          <a:xfrm flipH="1">
            <a:off x="6799810" y="1898824"/>
            <a:ext cx="205324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EED86A0-D414-1957-F857-A0CCBCE8B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5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1D9A-7277-AF02-1665-8F9094D6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97D180-8F99-1C84-8157-584C5D8B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UnoGameTools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6D5BD-68AA-D228-83A1-7919A748B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891" y="1795962"/>
            <a:ext cx="4420217" cy="457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BD13A6-8891-9D2A-B856-77441D471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811" y="2503600"/>
            <a:ext cx="5382376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199537-F108-6571-7F09-3A3F8921B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020" y="3554186"/>
            <a:ext cx="7039957" cy="1724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16DAAB-CB45-32E6-250F-03672EA0FB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02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2FF4-D50F-5650-BB95-95CF2777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AF68D2-F624-3161-6C61-DE70DBD8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API Controller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3A60F2-F8F8-6782-F16C-6486D3FBE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494" y="2100077"/>
            <a:ext cx="8507012" cy="2657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7EBFEA-AFF0-0A7B-2F7D-47A1CE662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68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9620-EFD8-93A1-B95F-D021ACC5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FB05E5-DDF9-924E-C10D-14A8E77B1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5B3D8FC-27D6-44D1-8BA5-3573C04A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Engine -&gt; game_state.json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FDD2C-9D0D-DA56-0DAC-E775290D8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416" y="1437997"/>
            <a:ext cx="6211167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80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A686-89B4-8F28-7490-45E33EC2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766F8-D32B-B06E-9CAD-D6946BEA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/>
            <a:r>
              <a:rPr lang="de-DE" dirty="0"/>
              <a:t>Engine -&gt; game_state.json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78D3E-90F8-24C7-F970-E56667A4D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232" y="1840635"/>
            <a:ext cx="6525536" cy="3839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2A73F-474F-1B45-15A1-40D3CDD15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27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FB057-93BF-9645-F176-BECE7747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7C3E3-098C-F92D-D569-3D48D109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A283F-DBE0-AA30-7422-551922E1E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536148"/>
            <a:ext cx="6880696" cy="42383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85B6D5-636E-CD16-0309-57147715EDD7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23731-83F9-F6A6-946D-EFCB570F0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78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43F72-F9DA-ECA4-3D01-4CD5098F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CE6BD7-CAE9-EB3C-9586-25341BB2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5B4C07-205A-4D36-D751-548A40259D11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8039F05-78C8-E2B5-54C9-4F1FDE906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45" y="1536148"/>
            <a:ext cx="8018709" cy="35875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CEABDF-9FC8-195A-53C0-49563C2064FA}"/>
              </a:ext>
            </a:extLst>
          </p:cNvPr>
          <p:cNvCxnSpPr/>
          <p:nvPr/>
        </p:nvCxnSpPr>
        <p:spPr>
          <a:xfrm flipH="1">
            <a:off x="7439891" y="2527069"/>
            <a:ext cx="208649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2E24EAE-DF30-098B-81EE-39B226DFF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78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05C1-BD1B-EF25-0846-E7EA3F82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9DFE1-2D0E-C461-EEAF-87C100515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API Controller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04FBF4-E149-3A14-56FB-7F2B8A81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941" y="1840635"/>
            <a:ext cx="8726118" cy="261974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A4A8E7D-BF07-0171-1A4E-7DF1B9485B5C}"/>
              </a:ext>
            </a:extLst>
          </p:cNvPr>
          <p:cNvCxnSpPr>
            <a:cxnSpLocks/>
          </p:cNvCxnSpPr>
          <p:nvPr/>
        </p:nvCxnSpPr>
        <p:spPr>
          <a:xfrm>
            <a:off x="5704443" y="1478049"/>
            <a:ext cx="0" cy="1842229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A59366-775A-CBAF-97C2-8A94C9922279}"/>
              </a:ext>
            </a:extLst>
          </p:cNvPr>
          <p:cNvCxnSpPr>
            <a:cxnSpLocks/>
          </p:cNvCxnSpPr>
          <p:nvPr/>
        </p:nvCxnSpPr>
        <p:spPr>
          <a:xfrm flipH="1">
            <a:off x="6209733" y="1550689"/>
            <a:ext cx="498695" cy="179503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9DFD59-9DB8-C02D-80FE-9C1D6129977D}"/>
              </a:ext>
            </a:extLst>
          </p:cNvPr>
          <p:cNvCxnSpPr>
            <a:cxnSpLocks/>
          </p:cNvCxnSpPr>
          <p:nvPr/>
        </p:nvCxnSpPr>
        <p:spPr>
          <a:xfrm flipH="1" flipV="1">
            <a:off x="6164149" y="3926101"/>
            <a:ext cx="229162" cy="186627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16F524-3F33-802D-D0EC-8726F989872F}"/>
              </a:ext>
            </a:extLst>
          </p:cNvPr>
          <p:cNvCxnSpPr>
            <a:cxnSpLocks/>
          </p:cNvCxnSpPr>
          <p:nvPr/>
        </p:nvCxnSpPr>
        <p:spPr>
          <a:xfrm flipH="1">
            <a:off x="6499037" y="2871092"/>
            <a:ext cx="1389804" cy="60308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6ED61A-9E29-0C03-5962-749A4AA422CE}"/>
              </a:ext>
            </a:extLst>
          </p:cNvPr>
          <p:cNvCxnSpPr>
            <a:cxnSpLocks/>
          </p:cNvCxnSpPr>
          <p:nvPr/>
        </p:nvCxnSpPr>
        <p:spPr>
          <a:xfrm flipH="1" flipV="1">
            <a:off x="6393311" y="3826394"/>
            <a:ext cx="1952667" cy="103284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742DD0-094D-2295-B358-5EFCB944D29B}"/>
              </a:ext>
            </a:extLst>
          </p:cNvPr>
          <p:cNvCxnSpPr>
            <a:cxnSpLocks/>
          </p:cNvCxnSpPr>
          <p:nvPr/>
        </p:nvCxnSpPr>
        <p:spPr>
          <a:xfrm flipV="1">
            <a:off x="5211233" y="3926101"/>
            <a:ext cx="493210" cy="18097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DF3600-F460-4951-FA4D-28673873F02A}"/>
              </a:ext>
            </a:extLst>
          </p:cNvPr>
          <p:cNvCxnSpPr>
            <a:cxnSpLocks/>
          </p:cNvCxnSpPr>
          <p:nvPr/>
        </p:nvCxnSpPr>
        <p:spPr>
          <a:xfrm>
            <a:off x="4039985" y="2780249"/>
            <a:ext cx="1333965" cy="73154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8E7575-5514-7293-4068-1E6DD56756FC}"/>
              </a:ext>
            </a:extLst>
          </p:cNvPr>
          <p:cNvCxnSpPr>
            <a:cxnSpLocks/>
          </p:cNvCxnSpPr>
          <p:nvPr/>
        </p:nvCxnSpPr>
        <p:spPr>
          <a:xfrm flipV="1">
            <a:off x="4013661" y="3798831"/>
            <a:ext cx="1386612" cy="63756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1A0A5093-F332-6F49-7B31-1AB366266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79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E79D-F562-60B6-FBFB-D77FC8A42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FB680-3E29-ABFE-5A62-4F461F1E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55DD14-9AD6-BF6A-056B-702742616198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9C30DCF-5501-2365-62D9-DEA955D21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45" y="1536148"/>
            <a:ext cx="8018709" cy="358753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7A2072-4212-2E79-DFBE-5DDA4786F7AC}"/>
              </a:ext>
            </a:extLst>
          </p:cNvPr>
          <p:cNvCxnSpPr/>
          <p:nvPr/>
        </p:nvCxnSpPr>
        <p:spPr>
          <a:xfrm flipH="1">
            <a:off x="6096000" y="3429000"/>
            <a:ext cx="256032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10FB754-658C-1279-8653-F0FCF3538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04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9CAB-CA63-CF75-B424-982D40EE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55C35D-0529-1B15-6C2B-5D7445F48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673"/>
          <a:stretch>
            <a:fillRect/>
          </a:stretch>
        </p:blipFill>
        <p:spPr>
          <a:xfrm>
            <a:off x="1957573" y="1624135"/>
            <a:ext cx="8276854" cy="21415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35F5196-2FE8-CC59-DC0A-E20ABC65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ACE485-5728-ADF4-7D68-60A19CE34FD2}"/>
              </a:ext>
            </a:extLst>
          </p:cNvPr>
          <p:cNvCxnSpPr/>
          <p:nvPr/>
        </p:nvCxnSpPr>
        <p:spPr>
          <a:xfrm flipH="1" flipV="1">
            <a:off x="8562109" y="2618509"/>
            <a:ext cx="1047404" cy="132172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1764193-42AA-A6E5-D706-636D53C41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05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7A86-C07B-E101-B4E3-CA88AAE5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41F814-EF8E-AD1F-141F-AF623FB29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972" y="1624134"/>
            <a:ext cx="7236055" cy="360972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12A9430-ACE7-86C7-032A-64BE9425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31B99F-44AF-4FA4-CBAB-558B0B000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65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E4D9-5112-AF65-5876-305D9598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008648-AEB8-4BB9-3DAB-A11F192C3A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673"/>
          <a:stretch>
            <a:fillRect/>
          </a:stretch>
        </p:blipFill>
        <p:spPr>
          <a:xfrm>
            <a:off x="1957573" y="1624135"/>
            <a:ext cx="8276854" cy="21415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924D285-821F-CD90-2805-E2098FF6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E07F0F-1D26-01EF-5062-9946E5D37E77}"/>
              </a:ext>
            </a:extLst>
          </p:cNvPr>
          <p:cNvCxnSpPr/>
          <p:nvPr/>
        </p:nvCxnSpPr>
        <p:spPr>
          <a:xfrm flipH="1">
            <a:off x="6525491" y="2751513"/>
            <a:ext cx="246888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0AA0FC9-96F0-5A2E-57E6-40C0FB512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76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F219-5B4B-B56A-BE9A-BBAED14D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EF69D3-A40E-662F-D5B8-6FD37D39A2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673"/>
          <a:stretch>
            <a:fillRect/>
          </a:stretch>
        </p:blipFill>
        <p:spPr>
          <a:xfrm>
            <a:off x="1957573" y="1624135"/>
            <a:ext cx="8276854" cy="21415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A362FBC-5D6E-F478-2918-33BDB3FB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LLM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309D1-AD47-F819-0DE8-36446C062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768" y="1258017"/>
            <a:ext cx="4364461" cy="434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49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67CA-430B-FC87-0DF0-205E8279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D5489D7-C848-89FB-E031-758F9F439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C4F826-F03C-640A-D50E-4EC204E22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488" y="1371600"/>
            <a:ext cx="8925026" cy="44625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8E47833-693A-7499-49D3-29DE54B0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Decision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069ED8-2038-8F9E-DAC8-B2790077ADF8}"/>
              </a:ext>
            </a:extLst>
          </p:cNvPr>
          <p:cNvSpPr/>
          <p:nvPr/>
        </p:nvSpPr>
        <p:spPr>
          <a:xfrm>
            <a:off x="1633487" y="3882044"/>
            <a:ext cx="8925026" cy="1952069"/>
          </a:xfrm>
          <a:prstGeom prst="rect">
            <a:avLst/>
          </a:prstGeom>
          <a:solidFill>
            <a:srgbClr val="000000">
              <a:alpha val="78824"/>
            </a:srgb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2EBC05-83DE-C7C2-FA7D-4525BB6E0F0C}"/>
              </a:ext>
            </a:extLst>
          </p:cNvPr>
          <p:cNvCxnSpPr/>
          <p:nvPr/>
        </p:nvCxnSpPr>
        <p:spPr>
          <a:xfrm>
            <a:off x="4239491" y="1113905"/>
            <a:ext cx="440574" cy="72673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29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AEB9-F208-BE8F-F5BC-1EE7D377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54E48A-B2B6-DBB0-BB96-762740A21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C50B09-D33E-6B2D-F2FD-0D867E527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488" y="1371599"/>
            <a:ext cx="8925026" cy="44625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7E313C-C308-2EDE-A492-542127872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Decision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4FE92D-1E83-7917-899B-15B489AA947F}"/>
              </a:ext>
            </a:extLst>
          </p:cNvPr>
          <p:cNvSpPr/>
          <p:nvPr/>
        </p:nvSpPr>
        <p:spPr>
          <a:xfrm>
            <a:off x="1633486" y="1371599"/>
            <a:ext cx="8925026" cy="2468881"/>
          </a:xfrm>
          <a:prstGeom prst="rect">
            <a:avLst/>
          </a:prstGeom>
          <a:solidFill>
            <a:srgbClr val="000000">
              <a:alpha val="78824"/>
            </a:srgb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39616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E8D1E-BCC7-D01C-F96D-67A6367F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73F45-37D5-D4EB-0482-7C3C14F7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Mutable Rule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7E020-F9F2-375C-3C49-5E0DA7A43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782" y="1495666"/>
            <a:ext cx="6912435" cy="4382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6264-7699-C3A8-B811-B5604D74B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02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C04A6-9346-7F82-97D9-5E538EACF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94D6A-F87A-541E-A8CC-3CAFB895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4B07A7-2C94-17B7-F37D-095C2FCEEF81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FC5FF98-C692-BF81-C669-BED0CD4BD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45" y="1536148"/>
            <a:ext cx="8018709" cy="358753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636AC1-9DB7-B8E2-CB3D-E4E12AC8EA93}"/>
              </a:ext>
            </a:extLst>
          </p:cNvPr>
          <p:cNvCxnSpPr>
            <a:cxnSpLocks/>
          </p:cNvCxnSpPr>
          <p:nvPr/>
        </p:nvCxnSpPr>
        <p:spPr>
          <a:xfrm flipH="1">
            <a:off x="7764087" y="3616036"/>
            <a:ext cx="1812175" cy="97258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FC4885-2DBE-5E9A-0DF7-CB56A0F0B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191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35D9-6B65-B53F-6AF5-6251B4E5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EE80CF-E8C0-0BAE-28B3-90FDECA62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527322"/>
            <a:ext cx="6880696" cy="42065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CE9B06-31A5-5E4F-50EF-9C98117D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52A93F-09CB-A08B-A6FF-589A577C2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Vielen Dank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(an die „Kollegen“ die uns beim Studium helfen)</a:t>
            </a:r>
          </a:p>
          <a:p>
            <a:pPr rtl="0"/>
            <a:r>
              <a:rPr lang="de-DE" dirty="0"/>
              <a:t>Daniel Huber</a:t>
            </a:r>
          </a:p>
          <a:p>
            <a:pPr rtl="0"/>
            <a:r>
              <a:rPr lang="de-DE" dirty="0"/>
              <a:t>Maximilian </a:t>
            </a:r>
            <a:r>
              <a:rPr lang="de-DE" dirty="0" err="1"/>
              <a:t>Starlinger</a:t>
            </a:r>
            <a:endParaRPr lang="de-DE" dirty="0"/>
          </a:p>
          <a:p>
            <a:pPr rtl="0"/>
            <a:r>
              <a:rPr lang="de-DE" dirty="0"/>
              <a:t>„Kollege“</a:t>
            </a:r>
          </a:p>
        </p:txBody>
      </p:sp>
      <p:pic>
        <p:nvPicPr>
          <p:cNvPr id="25" name="Bildplatzhalter 24" descr="Nahaufnahme eines Netzwerks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0_TF33713516_Win32" id="{FA432118-3671-4A9A-B6AE-C8E661E198BC}" vid="{CDB7179C-22AA-4A70-AACE-21A927A13D6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{0EB4E3D9-A22F-4ECA-8E0D-785AA66CEFCD}tf33713516_win32</Template>
  <TotalTime>325</TotalTime>
  <Words>354</Words>
  <Application>Microsoft Office PowerPoint</Application>
  <PresentationFormat>Widescreen</PresentationFormat>
  <Paragraphs>120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Gill Sans MT</vt:lpstr>
      <vt:lpstr>Walbaum Display</vt:lpstr>
      <vt:lpstr>3DFloatVTI</vt:lpstr>
      <vt:lpstr>UNO Arena KI-Agenten verstehen anhand eines Praxisbeispiels wobei zwei Agenten in einem lokalen Netzwerk zur Belustigung der Sebb-Studierenden gegeneinander UNO spielen</vt:lpstr>
      <vt:lpstr>KI-Agenten sind mehr als nur ein LLM</vt:lpstr>
      <vt:lpstr>KI-Agenten sind mehr als nur ein LLM</vt:lpstr>
      <vt:lpstr>Die Grundbausteine eines KI-Agenten</vt:lpstr>
      <vt:lpstr>Large Language Model</vt:lpstr>
      <vt:lpstr>System Prompt – Regeln und Rollen</vt:lpstr>
      <vt:lpstr>Einfaches Tool</vt:lpstr>
      <vt:lpstr>Speicher / Zustand Zwischenergebnisse merken</vt:lpstr>
      <vt:lpstr>Sehr simple Entscheidungslogik</vt:lpstr>
      <vt:lpstr>Umgebungen</vt:lpstr>
      <vt:lpstr>Quick Installation of a simple lokal KI-Agent</vt:lpstr>
      <vt:lpstr>PowerPoint Presentation</vt:lpstr>
      <vt:lpstr>Praxisbeispiel – UNO Agent</vt:lpstr>
      <vt:lpstr>Aufbau</vt:lpstr>
      <vt:lpstr>Agent Setup</vt:lpstr>
      <vt:lpstr>Agent Loop</vt:lpstr>
      <vt:lpstr>Agent Loop</vt:lpstr>
      <vt:lpstr>Agent Loop</vt:lpstr>
      <vt:lpstr>UnoGameTools</vt:lpstr>
      <vt:lpstr>API Controller</vt:lpstr>
      <vt:lpstr>Engine -&gt; game_state.json</vt:lpstr>
      <vt:lpstr>Engine -&gt; game_state.json</vt:lpstr>
      <vt:lpstr>Agent</vt:lpstr>
      <vt:lpstr>Agent</vt:lpstr>
      <vt:lpstr>API Controller</vt:lpstr>
      <vt:lpstr>Agent</vt:lpstr>
      <vt:lpstr>Agent</vt:lpstr>
      <vt:lpstr>Agent</vt:lpstr>
      <vt:lpstr>Agent</vt:lpstr>
      <vt:lpstr>LLM</vt:lpstr>
      <vt:lpstr>Decision</vt:lpstr>
      <vt:lpstr>Decision</vt:lpstr>
      <vt:lpstr>Mutable Rule</vt:lpstr>
      <vt:lpstr>Agent</vt:lpstr>
      <vt:lpstr>Agent Loop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Daniel - s2410307016</dc:creator>
  <cp:lastModifiedBy>Starlinger Maximilian - s2410307041</cp:lastModifiedBy>
  <cp:revision>11</cp:revision>
  <dcterms:created xsi:type="dcterms:W3CDTF">2026-06-19T11:59:20Z</dcterms:created>
  <dcterms:modified xsi:type="dcterms:W3CDTF">2026-06-20T10:42:31Z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