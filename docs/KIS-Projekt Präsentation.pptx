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9"/>
  </p:notesMasterIdLst>
  <p:handoutMasterIdLst>
    <p:handoutMasterId r:id="rId20"/>
  </p:handoutMasterIdLst>
  <p:sldIdLst>
    <p:sldId id="278" r:id="rId5"/>
    <p:sldId id="282" r:id="rId6"/>
    <p:sldId id="271" r:id="rId7"/>
    <p:sldId id="283" r:id="rId8"/>
    <p:sldId id="284" r:id="rId9"/>
    <p:sldId id="286" r:id="rId10"/>
    <p:sldId id="287" r:id="rId11"/>
    <p:sldId id="293" r:id="rId12"/>
    <p:sldId id="285" r:id="rId13"/>
    <p:sldId id="288" r:id="rId14"/>
    <p:sldId id="289" r:id="rId15"/>
    <p:sldId id="290" r:id="rId16"/>
    <p:sldId id="291" r:id="rId17"/>
    <p:sldId id="292" r:id="rId18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2" autoAdjust="0"/>
    <p:restoredTop sz="95388" autoAdjust="0"/>
  </p:normalViewPr>
  <p:slideViewPr>
    <p:cSldViewPr snapToGrid="0">
      <p:cViewPr varScale="1">
        <p:scale>
          <a:sx n="85" d="100"/>
          <a:sy n="85" d="100"/>
        </p:scale>
        <p:origin x="68" y="63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A2661D89-2535-43DF-BD6D-0DECFACAC0B2}" type="datetime1">
              <a:rPr lang="de-DE" smtClean="0"/>
              <a:t>19.06.2026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CFA70580-B89C-4157-871D-6B9318EE5F58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7C6030AF-4347-4F6A-861E-8AEA70B77203}" type="datetime1">
              <a:rPr lang="de-DE" smtClean="0"/>
              <a:t>19.06.2026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E7AF00E9-A49D-4007-B3B9-A3783809E50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0649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3191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163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7899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70488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61674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9F020-DCF5-C161-8D83-25CCF609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F21CF0-D3AD-FA82-B3B7-D4279EA4E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08EE07-6458-44C8-224E-6C2617B607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C60773-5A16-A7C0-F274-2607325C5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86206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3056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2812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61087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9515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42705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49693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de-DE" dirty="0"/>
            </a:lvl1pPr>
          </a:lstStyle>
          <a:p>
            <a:pPr lvl="0" rtl="0">
              <a:lnSpc>
                <a:spcPct val="100000"/>
              </a:lnSpc>
            </a:pPr>
            <a:r>
              <a:rPr lang="de-DE"/>
              <a:t>Titel durch Klicken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86820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gesordn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43C4A872-A473-BFD2-150E-387250C2B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C5C8D53B-A579-BCFA-58E8-C386DABC92CD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A34CAC-4A03-ADDB-E97F-8675E68FC0B3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C733506-2F0D-8F31-52D1-5244F04A706B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29356E3D-E14C-9C43-7CE4-A7156B1E10DB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Titel 19">
            <a:extLst>
              <a:ext uri="{FF2B5EF4-FFF2-40B4-BE49-F238E27FC236}">
                <a16:creationId xmlns:a16="http://schemas.microsoft.com/office/drawing/2014/main" id="{85C652DA-55F6-9691-4254-344E0A4E9A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3924"/>
            <a:ext cx="11090275" cy="1684059"/>
          </a:xfrm>
        </p:spPr>
        <p:txBody>
          <a:bodyPr rtlCol="0" anchor="b">
            <a:normAutofit/>
          </a:bodyPr>
          <a:lstStyle>
            <a:lvl1pPr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2" name="Inhaltsplatzhalter 21">
            <a:extLst>
              <a:ext uri="{FF2B5EF4-FFF2-40B4-BE49-F238E27FC236}">
                <a16:creationId xmlns:a16="http://schemas.microsoft.com/office/drawing/2014/main" id="{4DB7AC4F-2818-7F0D-AC6A-736D5F2C73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0863" y="2419350"/>
            <a:ext cx="11090274" cy="39131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>
                <a:solidFill>
                  <a:schemeClr val="tx1"/>
                </a:solidFill>
              </a:defRPr>
            </a:lvl1pPr>
            <a:lvl2pPr>
              <a:defRPr lang="de-DE" sz="1200">
                <a:solidFill>
                  <a:schemeClr val="tx1"/>
                </a:solidFill>
              </a:defRPr>
            </a:lvl2pPr>
            <a:lvl3pPr>
              <a:defRPr lang="de-DE" sz="1200">
                <a:solidFill>
                  <a:schemeClr val="tx1"/>
                </a:solidFill>
              </a:defRPr>
            </a:lvl3pPr>
            <a:lvl4pPr>
              <a:defRPr lang="de-DE" sz="1200">
                <a:solidFill>
                  <a:schemeClr val="tx1"/>
                </a:solidFill>
              </a:defRPr>
            </a:lvl4pPr>
            <a:lvl5pPr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Inhalt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C61DF04-D7CB-2B19-8BB9-3E90A6619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10824" y="1514007"/>
            <a:ext cx="734257" cy="760506"/>
            <a:chOff x="5243759" y="1363788"/>
            <a:chExt cx="734257" cy="760506"/>
          </a:xfrm>
        </p:grpSpPr>
        <p:sp>
          <p:nvSpPr>
            <p:cNvPr id="6" name="Freihandform 5">
              <a:extLst>
                <a:ext uri="{FF2B5EF4-FFF2-40B4-BE49-F238E27FC236}">
                  <a16:creationId xmlns:a16="http://schemas.microsoft.com/office/drawing/2014/main" id="{5DE1CC00-F893-E215-8086-65B6605C5F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7" name="Freihandform 6">
              <a:extLst>
                <a:ext uri="{FF2B5EF4-FFF2-40B4-BE49-F238E27FC236}">
                  <a16:creationId xmlns:a16="http://schemas.microsoft.com/office/drawing/2014/main" id="{6EBF50D9-F9B8-ADB3-8B4A-AF19564EE6E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8" name="Freihandform 8">
              <a:extLst>
                <a:ext uri="{FF2B5EF4-FFF2-40B4-BE49-F238E27FC236}">
                  <a16:creationId xmlns:a16="http://schemas.microsoft.com/office/drawing/2014/main" id="{80BE1060-7183-58F8-EEBF-64135EE82BC5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E597A3BE-0D13-9033-E3FD-78202DB79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168304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8867D9A-3F3B-94C3-244B-0006226AE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063019" y="3199533"/>
            <a:ext cx="3597052" cy="2615018"/>
            <a:chOff x="4541453" y="3199533"/>
            <a:chExt cx="3597052" cy="2615018"/>
          </a:xfrm>
        </p:grpSpPr>
        <p:sp>
          <p:nvSpPr>
            <p:cNvPr id="13" name="Freihandform: Form 38">
              <a:extLst>
                <a:ext uri="{FF2B5EF4-FFF2-40B4-BE49-F238E27FC236}">
                  <a16:creationId xmlns:a16="http://schemas.microsoft.com/office/drawing/2014/main" id="{955FC3D1-6227-A188-CCDB-11D573FD807A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AE6BE70E-C41E-449D-A48C-4EB6BB7DC20D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5" name="Freihandform: Form 32">
                <a:extLst>
                  <a:ext uri="{FF2B5EF4-FFF2-40B4-BE49-F238E27FC236}">
                    <a16:creationId xmlns:a16="http://schemas.microsoft.com/office/drawing/2014/main" id="{B7C0B12B-49BE-7855-18FB-8583C8DD9617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 dirty="0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67C78A37-D378-70D3-D6E3-AB9400EB583E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 dirty="0"/>
              </a:p>
            </p:txBody>
          </p:sp>
        </p:grp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02491172-466F-19CC-B639-A1C3CAB1D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690545" y="4100655"/>
            <a:ext cx="1335600" cy="1262947"/>
            <a:chOff x="10145015" y="2343978"/>
            <a:chExt cx="1335600" cy="1262947"/>
          </a:xfrm>
        </p:grpSpPr>
        <p:sp>
          <p:nvSpPr>
            <p:cNvPr id="18" name="Freihandform: Form 25">
              <a:extLst>
                <a:ext uri="{FF2B5EF4-FFF2-40B4-BE49-F238E27FC236}">
                  <a16:creationId xmlns:a16="http://schemas.microsoft.com/office/drawing/2014/main" id="{45EC885D-265C-397B-5DAF-57A66CDA30B5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3601DB21-D937-2F89-DC26-063DFC7800C8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3858332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bschnitts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4045464"/>
            <a:ext cx="11115355" cy="2286000"/>
          </a:xfrm>
        </p:spPr>
        <p:txBody>
          <a:bodyPr rtlCol="0" anchor="ctr">
            <a:noAutofit/>
          </a:bodyPr>
          <a:lstStyle>
            <a:lvl1pPr algn="l">
              <a:defRPr lang="de-DE" sz="54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94"/>
            <a:ext cx="12192000" cy="3771878"/>
          </a:xfrm>
        </p:spPr>
        <p:txBody>
          <a:bodyPr rtlCol="0">
            <a:no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7BF9F63-86BE-5515-AD3C-59481B3FF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225773" y="385222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BD12358-51D2-46B3-9BDE-DF29528B945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9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+ Untertitel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96900"/>
            <a:ext cx="4159160" cy="3155900"/>
          </a:xfrm>
        </p:spPr>
        <p:txBody>
          <a:bodyPr lIns="91440" rtlCol="0" anchor="b">
            <a:noAutofit/>
          </a:bodyPr>
          <a:lstStyle>
            <a:lvl1pPr algn="l"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7271" y="3505200"/>
            <a:ext cx="4159160" cy="2352356"/>
          </a:xfrm>
        </p:spPr>
        <p:txBody>
          <a:bodyPr lIns="91440" rIns="91440" rtlCol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lang="de-DE" sz="2400">
                <a:solidFill>
                  <a:schemeClr val="tx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60ABD6E1-FE78-D78B-E80C-09490F5D8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668780" y="505900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2BB1BCD-5C1C-ED05-D6B4-F92367209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22156" y="4143453"/>
            <a:ext cx="734257" cy="760506"/>
            <a:chOff x="5243759" y="1363788"/>
            <a:chExt cx="734257" cy="760506"/>
          </a:xfrm>
        </p:grpSpPr>
        <p:sp>
          <p:nvSpPr>
            <p:cNvPr id="11" name="Freihandform 5">
              <a:extLst>
                <a:ext uri="{FF2B5EF4-FFF2-40B4-BE49-F238E27FC236}">
                  <a16:creationId xmlns:a16="http://schemas.microsoft.com/office/drawing/2014/main" id="{700A5CAB-28E9-FB7A-E72E-39F3ADE58C6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2" name="Freihandform 6">
              <a:extLst>
                <a:ext uri="{FF2B5EF4-FFF2-40B4-BE49-F238E27FC236}">
                  <a16:creationId xmlns:a16="http://schemas.microsoft.com/office/drawing/2014/main" id="{2BA2D9BC-CA87-28FA-7A02-455E740EACA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3" name="Freihandform 8">
              <a:extLst>
                <a:ext uri="{FF2B5EF4-FFF2-40B4-BE49-F238E27FC236}">
                  <a16:creationId xmlns:a16="http://schemas.microsoft.com/office/drawing/2014/main" id="{734E5ADF-EEF0-2501-9D7B-8FC1A49F60A7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8" name="Bildplatzhalter 14">
            <a:extLst>
              <a:ext uri="{FF2B5EF4-FFF2-40B4-BE49-F238E27FC236}">
                <a16:creationId xmlns:a16="http://schemas.microsoft.com/office/drawing/2014/main" id="{780F3839-9B1B-2346-C1F4-E876E6AE32E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8049" y="788713"/>
            <a:ext cx="5132388" cy="5132388"/>
          </a:xfrm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tIns="365760" rtlCol="0">
            <a:noAutofit/>
          </a:bodyPr>
          <a:lstStyle>
            <a:lvl1pPr marL="0" indent="0" algn="ctr">
              <a:buNone/>
              <a:defRPr lang="de-DE" sz="18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BD12358-51D2-46B3-9BDE-DF29528B945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50073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87E98C0-6053-9701-92D0-4EF9ADBC5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9063019" y="746716"/>
            <a:ext cx="3597052" cy="2615018"/>
            <a:chOff x="4541453" y="3199533"/>
            <a:chExt cx="3597052" cy="2615018"/>
          </a:xfrm>
        </p:grpSpPr>
        <p:sp>
          <p:nvSpPr>
            <p:cNvPr id="8" name="Freihandform: Form 38">
              <a:extLst>
                <a:ext uri="{FF2B5EF4-FFF2-40B4-BE49-F238E27FC236}">
                  <a16:creationId xmlns:a16="http://schemas.microsoft.com/office/drawing/2014/main" id="{C32B1A1D-760B-9D3D-A869-E50FC962A629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D02EF78B-5BDF-8632-B9B1-087DB042EEC7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0" name="Freihandform: Form 32">
                <a:extLst>
                  <a:ext uri="{FF2B5EF4-FFF2-40B4-BE49-F238E27FC236}">
                    <a16:creationId xmlns:a16="http://schemas.microsoft.com/office/drawing/2014/main" id="{5C54B3E8-515B-0865-9321-DB3793A62240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 dirty="0"/>
              </a:p>
            </p:txBody>
          </p: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56E92718-2CCD-B15D-8DE5-46285BEA256B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 dirty="0"/>
              </a:p>
            </p:txBody>
          </p:sp>
        </p:grp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AEA0B78B-84F0-8B85-40E8-678689DC1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23112" y="5088958"/>
            <a:ext cx="1335600" cy="1262947"/>
            <a:chOff x="10145015" y="2343978"/>
            <a:chExt cx="1335600" cy="1262947"/>
          </a:xfrm>
        </p:grpSpPr>
        <p:sp>
          <p:nvSpPr>
            <p:cNvPr id="20" name="Freihandform: Form 25">
              <a:extLst>
                <a:ext uri="{FF2B5EF4-FFF2-40B4-BE49-F238E27FC236}">
                  <a16:creationId xmlns:a16="http://schemas.microsoft.com/office/drawing/2014/main" id="{2E5D7C6F-BF77-9B7D-5B12-7AF3ED280B43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FA599EE6-2673-0AD8-EAE0-45C79326015E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2" y="498474"/>
            <a:ext cx="7960421" cy="145021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de-DE" sz="4000" dirty="0"/>
            </a:lvl1pPr>
          </a:lstStyle>
          <a:p>
            <a:pPr lvl="0" rtl="0">
              <a:lnSpc>
                <a:spcPct val="100000"/>
              </a:lnSpc>
            </a:pPr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1343" y="2103039"/>
            <a:ext cx="7929940" cy="3979625"/>
          </a:xfrm>
        </p:spPr>
        <p:txBody>
          <a:bodyPr rtlCol="0">
            <a:normAutofit/>
          </a:bodyPr>
          <a:lstStyle>
            <a:lvl1pPr>
              <a:defRPr lang="de-DE" sz="1800">
                <a:solidFill>
                  <a:schemeClr val="tx1"/>
                </a:solidFill>
              </a:defRPr>
            </a:lvl1pPr>
            <a:lvl2pPr>
              <a:defRPr lang="de-DE" sz="1200">
                <a:solidFill>
                  <a:schemeClr val="tx1"/>
                </a:solidFill>
              </a:defRPr>
            </a:lvl2pPr>
            <a:lvl3pPr>
              <a:defRPr lang="de-DE" sz="1200">
                <a:solidFill>
                  <a:schemeClr val="tx1"/>
                </a:solidFill>
              </a:defRPr>
            </a:lvl3pPr>
            <a:lvl4pPr>
              <a:defRPr lang="de-DE" sz="1200">
                <a:solidFill>
                  <a:schemeClr val="tx1"/>
                </a:solidFill>
              </a:defRPr>
            </a:lvl4pPr>
            <a:lvl5pPr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60994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+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096D26C0-4AFC-33CC-99BE-317E9A84435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 rtlCol="0"/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7668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de-DE" sz="54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9840"/>
            <a:ext cx="9144000" cy="2286000"/>
          </a:xfrm>
        </p:spPr>
        <p:txBody>
          <a:bodyPr rtlCol="0">
            <a:noAutofit/>
          </a:bodyPr>
          <a:lstStyle>
            <a:lvl1pPr marL="0" indent="0" algn="ctr">
              <a:buNone/>
              <a:defRPr lang="de-DE" sz="1800">
                <a:solidFill>
                  <a:schemeClr val="tx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BD12358-51D2-46B3-9BDE-DF29528B945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52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llipse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0863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6B65629D-0977-C0EA-5E0B-C4822F43DAE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05540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61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 + Bild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974" y="196900"/>
            <a:ext cx="4899628" cy="2331490"/>
          </a:xfrm>
        </p:spPr>
        <p:txBody>
          <a:bodyPr rtlCol="0" anchor="b" anchorCtr="0">
            <a:noAutofit/>
          </a:bodyPr>
          <a:lstStyle>
            <a:lvl1pPr algn="r"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3162" y="2827209"/>
            <a:ext cx="4917440" cy="3442144"/>
          </a:xfrm>
        </p:spPr>
        <p:txBody>
          <a:bodyPr rtlCol="0">
            <a:normAutofit/>
          </a:bodyPr>
          <a:lstStyle>
            <a:lvl1pPr marL="0" indent="0" algn="r">
              <a:buNone/>
              <a:defRPr lang="de-DE" sz="1800">
                <a:solidFill>
                  <a:schemeClr val="tx1"/>
                </a:solidFill>
              </a:defRPr>
            </a:lvl1pPr>
            <a:lvl2pPr algn="r">
              <a:defRPr lang="de-DE" sz="1200">
                <a:solidFill>
                  <a:schemeClr val="tx1"/>
                </a:solidFill>
              </a:defRPr>
            </a:lvl2pPr>
            <a:lvl3pPr algn="r">
              <a:defRPr lang="de-DE" sz="1200">
                <a:solidFill>
                  <a:schemeClr val="tx1"/>
                </a:solidFill>
              </a:defRPr>
            </a:lvl3pPr>
            <a:lvl4pPr algn="r">
              <a:defRPr lang="de-DE" sz="1200">
                <a:solidFill>
                  <a:schemeClr val="tx1"/>
                </a:solidFill>
              </a:defRPr>
            </a:lvl4pPr>
            <a:lvl5pPr algn="r"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588" y="0"/>
            <a:ext cx="609599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904CD02-7C7D-28DD-85A8-2FD92C29D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9" name="Freihandform 5">
              <a:extLst>
                <a:ext uri="{FF2B5EF4-FFF2-40B4-BE49-F238E27FC236}">
                  <a16:creationId xmlns:a16="http://schemas.microsoft.com/office/drawing/2014/main" id="{FB7341D0-DC30-9661-B3E0-91DE7C37946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0" name="Freihandform 6">
              <a:extLst>
                <a:ext uri="{FF2B5EF4-FFF2-40B4-BE49-F238E27FC236}">
                  <a16:creationId xmlns:a16="http://schemas.microsoft.com/office/drawing/2014/main" id="{92A118B5-9F91-EA1B-3F95-6BFA5095544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1" name="Freihandform 8">
              <a:extLst>
                <a:ext uri="{FF2B5EF4-FFF2-40B4-BE49-F238E27FC236}">
                  <a16:creationId xmlns:a16="http://schemas.microsoft.com/office/drawing/2014/main" id="{208891A5-91FA-D924-CB46-E74B50635001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15" name="Ellipse 14">
            <a:extLst>
              <a:ext uri="{FF2B5EF4-FFF2-40B4-BE49-F238E27FC236}">
                <a16:creationId xmlns:a16="http://schemas.microsoft.com/office/drawing/2014/main" id="{BE5F7483-2261-D4C4-30E3-2D379D8CA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35617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 +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50801"/>
            <a:ext cx="11090275" cy="1237360"/>
          </a:xfrm>
        </p:spPr>
        <p:txBody>
          <a:bodyPr rtlCol="0" anchor="t" anchorCtr="0">
            <a:noAutofit/>
          </a:bodyPr>
          <a:lstStyle>
            <a:lvl1pPr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3720" y="1917065"/>
            <a:ext cx="2921000" cy="42976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>
                <a:solidFill>
                  <a:schemeClr val="tx1"/>
                </a:solidFill>
              </a:defRPr>
            </a:lvl1pPr>
            <a:lvl2pPr>
              <a:defRPr lang="de-DE" sz="1200">
                <a:solidFill>
                  <a:schemeClr val="tx1"/>
                </a:solidFill>
              </a:defRPr>
            </a:lvl2pPr>
            <a:lvl3pPr>
              <a:defRPr lang="de-DE" sz="1200">
                <a:solidFill>
                  <a:schemeClr val="tx1"/>
                </a:solidFill>
              </a:defRPr>
            </a:lvl3pPr>
            <a:lvl4pPr>
              <a:defRPr lang="de-DE" sz="1200">
                <a:solidFill>
                  <a:schemeClr val="tx1"/>
                </a:solidFill>
              </a:defRPr>
            </a:lvl4pPr>
            <a:lvl5pPr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Tabellenplatzhalt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4048759" y="1917065"/>
            <a:ext cx="7591799" cy="4297680"/>
          </a:xfrm>
        </p:spPr>
        <p:txBody>
          <a:bodyPr rtlCol="0">
            <a:normAutofit/>
          </a:bodyPr>
          <a:lstStyle>
            <a:lvl1pPr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BD12358-51D2-46B3-9BDE-DF29528B945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19083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llipse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831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EFC6ED4-22DD-0C3B-D15A-218307AB6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379261" y="2030035"/>
            <a:ext cx="1335600" cy="1262947"/>
            <a:chOff x="10145015" y="2343978"/>
            <a:chExt cx="1335600" cy="1262947"/>
          </a:xfrm>
        </p:grpSpPr>
        <p:sp>
          <p:nvSpPr>
            <p:cNvPr id="12" name="Freihandform: Form 25">
              <a:extLst>
                <a:ext uri="{FF2B5EF4-FFF2-40B4-BE49-F238E27FC236}">
                  <a16:creationId xmlns:a16="http://schemas.microsoft.com/office/drawing/2014/main" id="{E4CD0F67-4BE8-1120-FCAE-806F9E18DD58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59B74B85-E3CB-E24E-54C6-AB161411D93A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15" name="Freihandform: Form 21">
            <a:extLst>
              <a:ext uri="{FF2B5EF4-FFF2-40B4-BE49-F238E27FC236}">
                <a16:creationId xmlns:a16="http://schemas.microsoft.com/office/drawing/2014/main" id="{5781DEED-6608-D622-CA5E-C91FD8645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4295775" y="0"/>
            <a:ext cx="360000" cy="274638"/>
          </a:xfrm>
          <a:custGeom>
            <a:avLst/>
            <a:gdLst>
              <a:gd name="connsiteX0" fmla="*/ 30714 w 360000"/>
              <a:gd name="connsiteY0" fmla="*/ 0 h 274638"/>
              <a:gd name="connsiteX1" fmla="*/ 329286 w 360000"/>
              <a:gd name="connsiteY1" fmla="*/ 0 h 274638"/>
              <a:gd name="connsiteX2" fmla="*/ 345855 w 360000"/>
              <a:gd name="connsiteY2" fmla="*/ 24574 h 274638"/>
              <a:gd name="connsiteX3" fmla="*/ 360000 w 360000"/>
              <a:gd name="connsiteY3" fmla="*/ 94638 h 274638"/>
              <a:gd name="connsiteX4" fmla="*/ 180000 w 360000"/>
              <a:gd name="connsiteY4" fmla="*/ 274638 h 274638"/>
              <a:gd name="connsiteX5" fmla="*/ 0 w 360000"/>
              <a:gd name="connsiteY5" fmla="*/ 94638 h 274638"/>
              <a:gd name="connsiteX6" fmla="*/ 14145 w 360000"/>
              <a:gd name="connsiteY6" fmla="*/ 24574 h 274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0000" h="274638">
                <a:moveTo>
                  <a:pt x="30714" y="0"/>
                </a:moveTo>
                <a:lnTo>
                  <a:pt x="329286" y="0"/>
                </a:lnTo>
                <a:lnTo>
                  <a:pt x="345855" y="24574"/>
                </a:lnTo>
                <a:cubicBezTo>
                  <a:pt x="354963" y="46109"/>
                  <a:pt x="360000" y="69785"/>
                  <a:pt x="360000" y="94638"/>
                </a:cubicBezTo>
                <a:cubicBezTo>
                  <a:pt x="360000" y="194049"/>
                  <a:pt x="279411" y="274638"/>
                  <a:pt x="180000" y="274638"/>
                </a:cubicBezTo>
                <a:cubicBezTo>
                  <a:pt x="80589" y="274638"/>
                  <a:pt x="0" y="194049"/>
                  <a:pt x="0" y="94638"/>
                </a:cubicBezTo>
                <a:cubicBezTo>
                  <a:pt x="0" y="69785"/>
                  <a:pt x="5037" y="46109"/>
                  <a:pt x="14145" y="24574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1965095"/>
            <a:ext cx="5435600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>
                <a:solidFill>
                  <a:schemeClr val="tx1"/>
                </a:solidFill>
              </a:defRPr>
            </a:lvl1pPr>
            <a:lvl2pPr>
              <a:defRPr lang="de-DE" sz="1800">
                <a:solidFill>
                  <a:schemeClr val="tx1"/>
                </a:solidFill>
              </a:defRPr>
            </a:lvl2pPr>
            <a:lvl3pPr>
              <a:defRPr lang="de-DE" sz="1800">
                <a:solidFill>
                  <a:schemeClr val="tx1"/>
                </a:solidFill>
              </a:defRPr>
            </a:lvl3pPr>
            <a:lvl4pPr>
              <a:defRPr lang="de-DE" sz="1800">
                <a:solidFill>
                  <a:schemeClr val="tx1"/>
                </a:solidFill>
              </a:defRPr>
            </a:lvl4pPr>
            <a:lvl5pPr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C4B946DE-F802-2F36-2789-09D7F8604081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01305" y="1965095"/>
            <a:ext cx="5339397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>
                <a:solidFill>
                  <a:schemeClr val="tx1"/>
                </a:solidFill>
              </a:defRPr>
            </a:lvl1pPr>
            <a:lvl2pPr>
              <a:defRPr lang="de-DE" sz="1800">
                <a:solidFill>
                  <a:schemeClr val="tx1"/>
                </a:solidFill>
              </a:defRPr>
            </a:lvl2pPr>
            <a:lvl3pPr>
              <a:defRPr lang="de-DE" sz="1800">
                <a:solidFill>
                  <a:schemeClr val="tx1"/>
                </a:solidFill>
              </a:defRPr>
            </a:lvl3pPr>
            <a:lvl4pPr>
              <a:defRPr lang="de-DE" sz="1800">
                <a:solidFill>
                  <a:schemeClr val="tx1"/>
                </a:solidFill>
              </a:defRPr>
            </a:lvl4pPr>
            <a:lvl5pPr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165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60961"/>
            <a:ext cx="11090275" cy="1186560"/>
          </a:xfrm>
        </p:spPr>
        <p:txBody>
          <a:bodyPr rtlCol="0" anchor="t" anchorCtr="0">
            <a:noAutofit/>
          </a:bodyPr>
          <a:lstStyle>
            <a:lvl1pPr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BD12358-51D2-46B3-9BDE-DF29528B9454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C28186-3489-427F-79D0-B7844402362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1" y="1917064"/>
            <a:ext cx="11090275" cy="4297679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>
                <a:solidFill>
                  <a:schemeClr val="tx1"/>
                </a:solidFill>
              </a:defRPr>
            </a:lvl1pPr>
            <a:lvl2pPr>
              <a:defRPr lang="de-DE" sz="1800">
                <a:solidFill>
                  <a:schemeClr val="tx1"/>
                </a:solidFill>
              </a:defRPr>
            </a:lvl2pPr>
            <a:lvl3pPr>
              <a:defRPr lang="de-DE" sz="1800">
                <a:solidFill>
                  <a:schemeClr val="tx1"/>
                </a:solidFill>
              </a:defRPr>
            </a:lvl3pPr>
            <a:lvl4pPr>
              <a:defRPr lang="de-DE" sz="1800">
                <a:solidFill>
                  <a:schemeClr val="tx1"/>
                </a:solidFill>
              </a:defRPr>
            </a:lvl4pPr>
            <a:lvl5pPr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008793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llipse 6">
            <a:extLst>
              <a:ext uri="{FF2B5EF4-FFF2-40B4-BE49-F238E27FC236}">
                <a16:creationId xmlns:a16="http://schemas.microsoft.com/office/drawing/2014/main" id="{E57989ED-9663-5033-AA83-267069FC5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303845" y="5427212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9536" y="549274"/>
            <a:ext cx="5179330" cy="2841829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de-DE" sz="5400" dirty="0"/>
            </a:lvl1pPr>
          </a:lstStyle>
          <a:p>
            <a:pPr lvl="0" rtl="0">
              <a:lnSpc>
                <a:spcPct val="100000"/>
              </a:lnSpc>
            </a:pPr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537" y="3646704"/>
            <a:ext cx="5179330" cy="270616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>
                <a:solidFill>
                  <a:schemeClr val="tx1"/>
                </a:solidFill>
              </a:defRPr>
            </a:lvl1pPr>
            <a:lvl2pPr marL="457200" indent="0">
              <a:spcBef>
                <a:spcPts val="1000"/>
              </a:spcBef>
              <a:buNone/>
              <a:defRPr lang="de-DE" sz="1200">
                <a:solidFill>
                  <a:schemeClr val="tx1"/>
                </a:solidFill>
              </a:defRPr>
            </a:lvl2pPr>
            <a:lvl3pPr marL="914400" indent="0">
              <a:spcBef>
                <a:spcPts val="1000"/>
              </a:spcBef>
              <a:buNone/>
              <a:defRPr lang="de-DE" sz="1200">
                <a:solidFill>
                  <a:schemeClr val="tx1"/>
                </a:solidFill>
              </a:defRPr>
            </a:lvl3pPr>
            <a:lvl4pPr marL="1371600" indent="0">
              <a:spcBef>
                <a:spcPts val="1000"/>
              </a:spcBef>
              <a:buNone/>
              <a:defRPr lang="de-DE" sz="1200">
                <a:solidFill>
                  <a:schemeClr val="tx1"/>
                </a:solidFill>
              </a:defRPr>
            </a:lvl4pPr>
            <a:lvl5pPr marL="1828800" indent="0">
              <a:spcBef>
                <a:spcPts val="1000"/>
              </a:spcBef>
              <a:buNone/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5392876F-0BBD-F80A-DE7F-8831AD3BF3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26138" y="549275"/>
            <a:ext cx="5654675" cy="57880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64E08E8E-10CB-55BC-8AFF-E64C800B9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94036" y="5610392"/>
            <a:ext cx="667802" cy="631474"/>
            <a:chOff x="10478914" y="1506691"/>
            <a:chExt cx="667802" cy="631474"/>
          </a:xfrm>
        </p:grpSpPr>
        <p:sp>
          <p:nvSpPr>
            <p:cNvPr id="10" name="Freihandform: Form 15">
              <a:extLst>
                <a:ext uri="{FF2B5EF4-FFF2-40B4-BE49-F238E27FC236}">
                  <a16:creationId xmlns:a16="http://schemas.microsoft.com/office/drawing/2014/main" id="{B439260B-AC6B-1C83-1A63-058A7E7EFCC9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606715" y="1506691"/>
              <a:ext cx="540001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101600" dist="50800" dir="732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4ADD32DC-9BAF-DA32-4E29-A6D403E04377}"/>
                </a:ext>
              </a:extLst>
            </p:cNvPr>
            <p:cNvSpPr/>
            <p:nvPr/>
          </p:nvSpPr>
          <p:spPr>
            <a:xfrm rot="13500000">
              <a:off x="10613915" y="1424627"/>
              <a:ext cx="270000" cy="540001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60711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9149" y="389840"/>
            <a:ext cx="8281987" cy="2954655"/>
          </a:xfrm>
        </p:spPr>
        <p:txBody>
          <a:bodyPr rtlCol="0" anchor="t" anchorCtr="0">
            <a:normAutofit/>
          </a:bodyPr>
          <a:lstStyle>
            <a:lvl1pPr algn="l">
              <a:lnSpc>
                <a:spcPct val="100000"/>
              </a:lnSpc>
              <a:defRPr lang="de-DE" sz="64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59149" y="3536951"/>
            <a:ext cx="8281989" cy="2555874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lang="de-DE" sz="2400">
                <a:solidFill>
                  <a:schemeClr val="tx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82184FF4-7029-4ED7-813A-192E60608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AAA7AB09-557C-41AD-9113-FF9F68FA1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EF99ECAA-1F11-4937-BBA6-51935AB44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79DE9FAB-6BBA-4CFE-B67D-77B47F01E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36" name="Freihandform: Form 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34123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defPPr>
              <a:defRPr lang="de-DE"/>
            </a:defPPr>
          </a:lstStyle>
          <a:p>
            <a:pPr lvl="0" rtl="0">
              <a:lnSpc>
                <a:spcPct val="100000"/>
              </a:lnSpc>
            </a:pPr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de-DE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de-DE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de-DE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fld id="{DBA1B0FB-D917-4C8C-928F-313BD683BF39}" type="slidenum">
              <a:rPr lang="de-DE" smtClean="0"/>
              <a:pPr rtl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212557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6" r:id="rId3"/>
    <p:sldLayoutId id="2147483697" r:id="rId4"/>
    <p:sldLayoutId id="2147483703" r:id="rId5"/>
    <p:sldLayoutId id="2147483698" r:id="rId6"/>
    <p:sldLayoutId id="2147483704" r:id="rId7"/>
    <p:sldLayoutId id="2147483699" r:id="rId8"/>
    <p:sldLayoutId id="2147483700" r:id="rId9"/>
    <p:sldLayoutId id="2147483688" r:id="rId10"/>
    <p:sldLayoutId id="2147483701" r:id="rId11"/>
    <p:sldLayoutId id="2147483686" r:id="rId12"/>
    <p:sldLayoutId id="2147483685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de-DE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de-DE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de-DE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de-DE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8020" y="662937"/>
            <a:ext cx="4624442" cy="5542025"/>
          </a:xfrm>
          <a:noFill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KI-Agenten</a:t>
            </a:r>
          </a:p>
        </p:txBody>
      </p:sp>
      <p:pic>
        <p:nvPicPr>
          <p:cNvPr id="8" name="Bildplatzhalter 13" descr="Digitaler Hintergrund für Datenpunkte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>
          <a:xfrm>
            <a:off x="0" y="0"/>
            <a:ext cx="6267450" cy="6858000"/>
          </a:xfrm>
        </p:spPr>
      </p:pic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D5BE93-0252-3CC3-B567-14EC47EB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1073027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Unterschiede von </a:t>
            </a:r>
            <a:r>
              <a:rPr lang="de-DE" dirty="0" err="1"/>
              <a:t>LLM‘s</a:t>
            </a:r>
            <a:r>
              <a:rPr lang="de-DE" dirty="0"/>
              <a:t> zu KI-Agenten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BCA07C-1908-B1EB-82FA-EC63DAAF4CF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63" y="2419350"/>
            <a:ext cx="5545137" cy="391318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algn="ctr" rtl="0"/>
            <a:r>
              <a:rPr lang="de-DE" b="1" dirty="0"/>
              <a:t>Large Language Model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Text verstehen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Text erzeugen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Wissen anwenden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Muster erkennen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Vorschläge machen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Ein LLM macht aber von sich aus nichts            außerhalb der Antwort.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49DDB041-36E9-80BB-3138-72A86F890EDF}"/>
              </a:ext>
            </a:extLst>
          </p:cNvPr>
          <p:cNvSpPr txBox="1">
            <a:spLocks/>
          </p:cNvSpPr>
          <p:nvPr/>
        </p:nvSpPr>
        <p:spPr>
          <a:xfrm>
            <a:off x="6096000" y="2419350"/>
            <a:ext cx="5545137" cy="3913188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None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/>
              <a:t>KI-Agent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Hat ein LLM als Inhalt – denkt, entscheidet, formuliert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System Prompt – Regeln und Rolle des Agenten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Tools – z.B. Datei schreiben, API aufrufen, Datenbank abfragen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Speicher / Zustand merkt sich Zwischenergebnisse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Entscheidungslogik – wählt nächste Aktion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Umgebung – Spiel, Web-App, API, Dateisystem usw.</a:t>
            </a:r>
          </a:p>
        </p:txBody>
      </p:sp>
    </p:spTree>
    <p:extLst>
      <p:ext uri="{BB962C8B-B14F-4D97-AF65-F5344CB8AC3E}">
        <p14:creationId xmlns:p14="http://schemas.microsoft.com/office/powerpoint/2010/main" val="2665045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4045464"/>
            <a:ext cx="11115355" cy="2286000"/>
          </a:xfrm>
          <a:noFill/>
        </p:spPr>
        <p:txBody>
          <a:bodyPr rtlCol="0" anchor="ctr"/>
          <a:lstStyle>
            <a:defPPr>
              <a:defRPr lang="de-DE"/>
            </a:defPPr>
          </a:lstStyle>
          <a:p>
            <a:pPr algn="ctr" rtl="0"/>
            <a:r>
              <a:rPr lang="de-DE" dirty="0"/>
              <a:t>Die Grundbausteine eines</a:t>
            </a:r>
            <a:br>
              <a:rPr lang="de-DE" dirty="0"/>
            </a:br>
            <a:r>
              <a:rPr lang="de-DE" dirty="0"/>
              <a:t>KI-Agenten</a:t>
            </a:r>
          </a:p>
        </p:txBody>
      </p:sp>
      <p:pic>
        <p:nvPicPr>
          <p:cNvPr id="11" name="Bildplatzhalter 15" descr="Digitaler Hintergrund für Datenpunkte">
            <a:extLst>
              <a:ext uri="{FF2B5EF4-FFF2-40B4-BE49-F238E27FC236}">
                <a16:creationId xmlns:a16="http://schemas.microsoft.com/office/drawing/2014/main" id="{A496DCE5-C34A-22C2-A9D8-E90DFC8CE86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4594"/>
            <a:ext cx="12192000" cy="3771878"/>
          </a:xfrm>
        </p:spPr>
      </p:pic>
    </p:spTree>
    <p:extLst>
      <p:ext uri="{BB962C8B-B14F-4D97-AF65-F5344CB8AC3E}">
        <p14:creationId xmlns:p14="http://schemas.microsoft.com/office/powerpoint/2010/main" val="1839748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5386721" cy="1120558"/>
          </a:xfrm>
          <a:noFill/>
        </p:spPr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Large Language Model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7271" y="2358189"/>
            <a:ext cx="4572166" cy="3499367"/>
          </a:xfrm>
          <a:noFill/>
        </p:spPr>
        <p:txBody>
          <a:bodyPr rtlCol="0"/>
          <a:lstStyle>
            <a:defPPr>
              <a:defRPr lang="de-DE"/>
            </a:defPPr>
          </a:lstStyle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Das Gehirn des Agenten</a:t>
            </a:r>
          </a:p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Versteht Eingaben</a:t>
            </a:r>
          </a:p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Trifft Entscheidungen</a:t>
            </a:r>
          </a:p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Erzeugt Antworten/Befehle</a:t>
            </a:r>
          </a:p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Für Aktionen sind Tools nötig</a:t>
            </a:r>
          </a:p>
          <a:p>
            <a:pPr rtl="0"/>
            <a:endParaRPr lang="de-DE" dirty="0"/>
          </a:p>
        </p:txBody>
      </p:sp>
      <p:pic>
        <p:nvPicPr>
          <p:cNvPr id="8" name="Bildplatzhalter 7">
            <a:extLst>
              <a:ext uri="{FF2B5EF4-FFF2-40B4-BE49-F238E27FC236}">
                <a16:creationId xmlns:a16="http://schemas.microsoft.com/office/drawing/2014/main" id="{CBAEA433-EF0C-C41A-A993-54AAE65E904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67" r="16667"/>
          <a:stretch>
            <a:fillRect/>
          </a:stretch>
        </p:blipFill>
        <p:spPr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rgbClr val="A3A3C1"/>
          </a:solidFill>
        </p:spPr>
      </p:pic>
    </p:spTree>
    <p:extLst>
      <p:ext uri="{BB962C8B-B14F-4D97-AF65-F5344CB8AC3E}">
        <p14:creationId xmlns:p14="http://schemas.microsoft.com/office/powerpoint/2010/main" val="1388592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72343A-9CB0-F2AD-EF62-5DEE3E97F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1332000"/>
          </a:xfrm>
        </p:spPr>
        <p:txBody>
          <a:bodyPr wrap="square" rtlCol="0" anchor="t">
            <a:normAutofit/>
          </a:bodyPr>
          <a:lstStyle>
            <a:defPPr>
              <a:defRPr lang="de-DE"/>
            </a:defPPr>
          </a:lstStyle>
          <a:p>
            <a:pPr algn="ctr" rtl="0"/>
            <a:r>
              <a:rPr lang="de-DE" dirty="0"/>
              <a:t>System Prompt – Regeln und Rollen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58E4F04-6136-1AD7-597E-1D462CE2FC9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299" y="2097175"/>
            <a:ext cx="4756726" cy="3995650"/>
          </a:xfrm>
          <a:prstGeom prst="rect">
            <a:avLst/>
          </a:prstGeom>
          <a:noFill/>
        </p:spPr>
      </p:pic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E5F882D8-C37F-2269-5001-3B183870B3F4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05540" y="2097175"/>
            <a:ext cx="5435600" cy="3995650"/>
          </a:xfrm>
        </p:spPr>
        <p:txBody>
          <a:bodyPr>
            <a:normAutofit/>
          </a:bodyPr>
          <a:lstStyle/>
          <a:p>
            <a:pPr algn="ctr"/>
            <a:r>
              <a:rPr lang="en-US" sz="2800" dirty="0"/>
              <a:t>Rolle</a:t>
            </a:r>
          </a:p>
          <a:p>
            <a:pPr algn="ctr"/>
            <a:r>
              <a:rPr lang="en-US" sz="2800" dirty="0" err="1"/>
              <a:t>Aufgaben</a:t>
            </a:r>
            <a:endParaRPr lang="en-US" sz="2800" dirty="0"/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r>
              <a:rPr lang="en-US" sz="2800" dirty="0" err="1"/>
              <a:t>Regeln</a:t>
            </a:r>
            <a:endParaRPr lang="en-US" sz="28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622E9BC-EEA9-05E2-686E-94A278932F7D}"/>
              </a:ext>
            </a:extLst>
          </p:cNvPr>
          <p:cNvCxnSpPr/>
          <p:nvPr/>
        </p:nvCxnSpPr>
        <p:spPr>
          <a:xfrm flipH="1">
            <a:off x="5775158" y="2538663"/>
            <a:ext cx="2400300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6C28E76-5411-B783-08B3-BBA55A21DD1A}"/>
              </a:ext>
            </a:extLst>
          </p:cNvPr>
          <p:cNvCxnSpPr/>
          <p:nvPr/>
        </p:nvCxnSpPr>
        <p:spPr>
          <a:xfrm flipH="1">
            <a:off x="5775158" y="3124200"/>
            <a:ext cx="2400300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7260685-EEA3-F8C3-AB8D-84918A644568}"/>
              </a:ext>
            </a:extLst>
          </p:cNvPr>
          <p:cNvCxnSpPr/>
          <p:nvPr/>
        </p:nvCxnSpPr>
        <p:spPr>
          <a:xfrm flipH="1">
            <a:off x="5775158" y="5400173"/>
            <a:ext cx="2400300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969A451-E77F-EDBD-AEC9-FE731861BB3C}"/>
              </a:ext>
            </a:extLst>
          </p:cNvPr>
          <p:cNvCxnSpPr>
            <a:cxnSpLocks/>
          </p:cNvCxnSpPr>
          <p:nvPr/>
        </p:nvCxnSpPr>
        <p:spPr>
          <a:xfrm flipH="1" flipV="1">
            <a:off x="5775158" y="4415589"/>
            <a:ext cx="2400300" cy="984584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841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76CC09F-7383-3A4C-555C-35DA0BB4B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1332000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Einfaches Tool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D18FADC8-8A0C-B1C8-A179-9B4CEFB9B17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769909" y="2006379"/>
            <a:ext cx="5016758" cy="3695890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45A03A5-6D4D-7072-B3BD-F2DA38CADEB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05540" y="2097175"/>
            <a:ext cx="5435600" cy="399565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800" dirty="0"/>
              <a:t>Verbindet Agenten mit LLM</a:t>
            </a:r>
          </a:p>
          <a:p>
            <a:pPr rtl="0"/>
            <a:endParaRPr lang="de-DE" sz="2800" dirty="0"/>
          </a:p>
          <a:p>
            <a:pPr rtl="0"/>
            <a:r>
              <a:rPr lang="de-DE" sz="2800" dirty="0"/>
              <a:t>Schickt Anfrage an </a:t>
            </a:r>
            <a:r>
              <a:rPr lang="de-DE" sz="2800" dirty="0" err="1"/>
              <a:t>Ollama</a:t>
            </a:r>
            <a:endParaRPr lang="de-DE" sz="2800" dirty="0"/>
          </a:p>
          <a:p>
            <a:pPr rtl="0"/>
            <a:endParaRPr lang="de-DE" sz="2800" dirty="0"/>
          </a:p>
          <a:p>
            <a:pPr rtl="0"/>
            <a:r>
              <a:rPr lang="de-DE" sz="2800" dirty="0"/>
              <a:t>Bekommt Antwort zurück</a:t>
            </a:r>
          </a:p>
        </p:txBody>
      </p:sp>
    </p:spTree>
    <p:extLst>
      <p:ext uri="{BB962C8B-B14F-4D97-AF65-F5344CB8AC3E}">
        <p14:creationId xmlns:p14="http://schemas.microsoft.com/office/powerpoint/2010/main" val="233018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76CC09F-7383-3A4C-555C-35DA0BB4B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1332000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Speicher / Zustand</a:t>
            </a:r>
            <a:br>
              <a:rPr lang="de-DE" dirty="0"/>
            </a:br>
            <a:r>
              <a:rPr lang="de-DE" dirty="0"/>
              <a:t>Zwischenergebnisse merken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BE7E655-DBBE-1E38-D543-EB34028F2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453639"/>
            <a:ext cx="5435600" cy="3639185"/>
          </a:xfrm>
        </p:spPr>
        <p:txBody>
          <a:bodyPr rtlCol="0"/>
          <a:lstStyle>
            <a:defPPr>
              <a:defRPr lang="de-DE"/>
            </a:defPPr>
          </a:lstStyle>
          <a:p>
            <a:pPr lvl="1" rtl="0"/>
            <a:r>
              <a:rPr lang="de-DE" dirty="0"/>
              <a:t>Kurzzeit-Kontext – aktueller Chat, eventuell von der vorherigen Nachricht noch mitgegeben</a:t>
            </a:r>
          </a:p>
          <a:p>
            <a:pPr lvl="1" rtl="0"/>
            <a:r>
              <a:rPr lang="de-DE" dirty="0"/>
              <a:t>Externer Speicher – Datenbanken, Dateien</a:t>
            </a:r>
          </a:p>
          <a:p>
            <a:pPr lvl="1" rtl="0"/>
            <a:r>
              <a:rPr lang="de-DE" dirty="0"/>
              <a:t>Programmzustand – Variablen, aktuelle Position im Spiel</a:t>
            </a:r>
          </a:p>
          <a:p>
            <a:pPr lvl="1" rtl="0"/>
            <a:r>
              <a:rPr lang="de-DE" dirty="0"/>
              <a:t>Tool-Ergebnisse</a:t>
            </a:r>
          </a:p>
          <a:p>
            <a:pPr lvl="1"/>
            <a:r>
              <a:rPr lang="de-DE" dirty="0" err="1"/>
              <a:t>Longtime</a:t>
            </a:r>
            <a:r>
              <a:rPr lang="de-DE" dirty="0"/>
              <a:t>-Memory – Datenbanken, Dateien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138EDB83-8155-617C-EA30-9668F435C2EF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7458" y="2453639"/>
            <a:ext cx="5033962" cy="287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460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32938-2957-58C7-10C2-1221F521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AED76-02DD-6D33-17F2-BB5361A90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773024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Sehr simple Entscheidungslogik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50AE9563-1C7C-5851-7EF2-B3B1E0765EA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2888" y="1497535"/>
            <a:ext cx="4435545" cy="4662746"/>
          </a:xfrm>
          <a:prstGeom prst="rect">
            <a:avLst/>
          </a:prstGeom>
        </p:spPr>
      </p:pic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41121D13-B4BF-91D9-4008-1B5B63914A47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569" y="1497535"/>
            <a:ext cx="4527017" cy="4527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platzhalter 7" descr="Digitaler Hintergrund für Datenpunkte">
            <a:extLst>
              <a:ext uri="{FF2B5EF4-FFF2-40B4-BE49-F238E27FC236}">
                <a16:creationId xmlns:a16="http://schemas.microsoft.com/office/drawing/2014/main" id="{1358CD3B-43A8-5BF7-2E60-B0563F068D1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4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8A84D4AF-8D29-5A55-F3F8-1E928E3B0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76680"/>
            <a:ext cx="9144000" cy="22860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Auswählen visueller Hilfen</a:t>
            </a:r>
          </a:p>
        </p:txBody>
      </p:sp>
      <p:sp>
        <p:nvSpPr>
          <p:cNvPr id="8" name="Untertitel 7">
            <a:extLst>
              <a:ext uri="{FF2B5EF4-FFF2-40B4-BE49-F238E27FC236}">
                <a16:creationId xmlns:a16="http://schemas.microsoft.com/office/drawing/2014/main" id="{6450744F-A4B6-FD90-F6DA-4EF9A192E3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9840"/>
            <a:ext cx="9144000" cy="22860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Verbessern Ihrer Präsentation</a:t>
            </a:r>
          </a:p>
        </p:txBody>
      </p:sp>
    </p:spTree>
    <p:extLst>
      <p:ext uri="{BB962C8B-B14F-4D97-AF65-F5344CB8AC3E}">
        <p14:creationId xmlns:p14="http://schemas.microsoft.com/office/powerpoint/2010/main" val="2855514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1106B59-80B8-CEED-0BCA-BC3F80A85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6" name="Freihandform 5">
              <a:extLst>
                <a:ext uri="{FF2B5EF4-FFF2-40B4-BE49-F238E27FC236}">
                  <a16:creationId xmlns:a16="http://schemas.microsoft.com/office/drawing/2014/main" id="{73C2F317-81E4-3678-2FF2-495B3A95470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7" name="Freihandform 6">
              <a:extLst>
                <a:ext uri="{FF2B5EF4-FFF2-40B4-BE49-F238E27FC236}">
                  <a16:creationId xmlns:a16="http://schemas.microsoft.com/office/drawing/2014/main" id="{A7C6D33A-37B7-D2C4-2C1C-6D5253D0D480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8" name="Freihandform 8">
              <a:extLst>
                <a:ext uri="{FF2B5EF4-FFF2-40B4-BE49-F238E27FC236}">
                  <a16:creationId xmlns:a16="http://schemas.microsoft.com/office/drawing/2014/main" id="{18145A95-72C3-9BFC-32D2-908F235E389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74" y="196900"/>
            <a:ext cx="4899628" cy="2331490"/>
          </a:xfrm>
          <a:noFill/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Wirkung der Rede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162" y="2827209"/>
            <a:ext cx="4917440" cy="3442144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Ihre Fähigkeit, effektiv zu kommunizieren, wird einen bleibenden Eindruck bei Ihrem Publikum hinterlassen.</a:t>
            </a:r>
          </a:p>
          <a:p>
            <a:pPr rtl="0"/>
            <a:r>
              <a:rPr lang="de-DE" dirty="0"/>
              <a:t>Zu einer effektiven Kommunikation gehört nicht nur die Übermittlung einer Botschaft, sondern auch die Auseinandersetzung mit den Erfahrungen, Werten und Emotionen der Zuhörer.</a:t>
            </a:r>
          </a:p>
        </p:txBody>
      </p:sp>
      <p:pic>
        <p:nvPicPr>
          <p:cNvPr id="20" name="Bildplatzhalter 19" descr="Nahaufnahme eines Diagramms">
            <a:extLst>
              <a:ext uri="{FF2B5EF4-FFF2-40B4-BE49-F238E27FC236}">
                <a16:creationId xmlns:a16="http://schemas.microsoft.com/office/drawing/2014/main" id="{A7019768-5E2A-F9D1-62D6-EC7C5F0BBE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r="9"/>
          <a:stretch/>
        </p:blipFill>
        <p:spPr>
          <a:xfrm>
            <a:off x="6095588" y="0"/>
            <a:ext cx="6095998" cy="6858000"/>
          </a:xfr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5C4A7DC2-42C3-FDDF-02BF-9598D75A6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523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1"/>
            <a:ext cx="11090275" cy="1237360"/>
          </a:xfrm>
          <a:noFill/>
        </p:spPr>
        <p:txBody>
          <a:bodyPr rtlCol="0" anchor="t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Dynamischer Vortrag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3719" y="1917065"/>
            <a:ext cx="3095567" cy="4297680"/>
          </a:xfrm>
          <a:noFill/>
        </p:spPr>
        <p:txBody>
          <a:bodyPr vert="horz" lIns="0" tIns="0" rIns="91440" bIns="45720" rtlCol="0" anchor="t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Erfahren Sie, wie Sie Energie in Ihren Vortrag einfließen lassen, um einen bleibenden Eindruck zu hinterlassen.</a:t>
            </a:r>
          </a:p>
          <a:p>
            <a:pPr rtl="0"/>
            <a:r>
              <a:rPr lang="de-DE" dirty="0"/>
              <a:t>Eines der Ziele einer effektiven Kommunikation besteht darin, Ihre Zielgruppe zu motivieren.</a:t>
            </a:r>
          </a:p>
        </p:txBody>
      </p:sp>
      <p:graphicFrame>
        <p:nvGraphicFramePr>
          <p:cNvPr id="16" name="Tabellenplatzhalter 2">
            <a:extLst>
              <a:ext uri="{FF2B5EF4-FFF2-40B4-BE49-F238E27FC236}">
                <a16:creationId xmlns:a16="http://schemas.microsoft.com/office/drawing/2014/main" id="{1904F965-D30E-5A83-B17B-7D030326E77B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395063446"/>
              </p:ext>
            </p:extLst>
          </p:nvPr>
        </p:nvGraphicFramePr>
        <p:xfrm>
          <a:off x="4048125" y="1917700"/>
          <a:ext cx="7601960" cy="4297679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137704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932972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273215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258069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6692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 dirty="0"/>
                        <a:t>Metrik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Messung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Ziel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Tatsächlich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6692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Anwesenheit des Publikums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 dirty="0"/>
                        <a:t>Anzahl der Teilnehmer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150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120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6692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Vortragsdauer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Minuten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60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75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6692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Frage-Antwort-Interaktion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 dirty="0"/>
                        <a:t>Anzahl der Fragen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10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15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6692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Positives Feedback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Prozentsatz (%)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90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95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951294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Rate der Informationsspeicherung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Prozentsatz (%)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80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 dirty="0"/>
                        <a:t>85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440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8315"/>
            <a:ext cx="11090274" cy="1332000"/>
          </a:xfrm>
          <a:noFill/>
        </p:spPr>
        <p:txBody>
          <a:bodyPr lIns="0"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Letzte Tipps und Erkenntnisse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948542-FCE1-3AE6-C6C9-17975609DF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1965095"/>
            <a:ext cx="5617182" cy="3995650"/>
          </a:xfrm>
          <a:noFill/>
        </p:spPr>
        <p:txBody>
          <a:bodyPr vert="horz" lIns="0" tIns="45720" rIns="91440" bIns="45720" rtlCol="0" anchor="t">
            <a:normAutofit fontScale="92500" lnSpcReduction="10000"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Konsequentes Üben</a:t>
            </a:r>
          </a:p>
          <a:p>
            <a:pPr lvl="1" rtl="0"/>
            <a:r>
              <a:rPr lang="de-DE" dirty="0"/>
              <a:t>Stärken Ihrer Vertrautheit</a:t>
            </a:r>
          </a:p>
          <a:p>
            <a:pPr rtl="0"/>
            <a:r>
              <a:rPr lang="de-DE" dirty="0"/>
              <a:t>Vortragsstil verfeinern</a:t>
            </a:r>
          </a:p>
          <a:p>
            <a:pPr lvl="1" rtl="0"/>
            <a:r>
              <a:rPr lang="de-DE" dirty="0"/>
              <a:t>Tempo, Tonfall und Betonung</a:t>
            </a:r>
          </a:p>
          <a:p>
            <a:pPr rtl="0"/>
            <a:r>
              <a:rPr lang="de-DE" dirty="0"/>
              <a:t>Timing und Übergänge</a:t>
            </a:r>
          </a:p>
          <a:p>
            <a:pPr lvl="1" rtl="0"/>
            <a:r>
              <a:rPr lang="de-DE" dirty="0"/>
              <a:t>Streben Sie einen nahtlosen, professionellen Vortrag an.</a:t>
            </a:r>
          </a:p>
          <a:p>
            <a:pPr rtl="0"/>
            <a:r>
              <a:rPr lang="de-DE" dirty="0"/>
              <a:t>Übungspublikum</a:t>
            </a:r>
          </a:p>
          <a:p>
            <a:pPr lvl="1" rtl="0"/>
            <a:r>
              <a:rPr lang="de-DE" dirty="0"/>
              <a:t>Bitten Sie Ihre Kollegen, zuzuhören und Feedback zu geben.</a:t>
            </a:r>
          </a:p>
          <a:p>
            <a:pPr lvl="1" rtl="0"/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E67564-0457-E486-97D0-8109D2C97B3F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1305" y="1965095"/>
            <a:ext cx="5339397" cy="3995650"/>
          </a:xfrm>
          <a:noFill/>
        </p:spPr>
        <p:txBody>
          <a:bodyPr lIns="0"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1700" dirty="0"/>
              <a:t>Feedback einholen</a:t>
            </a:r>
          </a:p>
          <a:p>
            <a:pPr rtl="0"/>
            <a:r>
              <a:rPr lang="de-DE" sz="1700" dirty="0"/>
              <a:t>Über Leistung nachdenken</a:t>
            </a:r>
          </a:p>
          <a:p>
            <a:pPr rtl="0"/>
            <a:r>
              <a:rPr lang="de-DE" sz="1700" dirty="0"/>
              <a:t>Erkunden neuer Techniken</a:t>
            </a:r>
          </a:p>
          <a:p>
            <a:pPr rtl="0"/>
            <a:r>
              <a:rPr lang="de-DE" sz="1700" dirty="0"/>
              <a:t>Persönliche Ziele festlegen</a:t>
            </a:r>
          </a:p>
          <a:p>
            <a:pPr rtl="0"/>
            <a:r>
              <a:rPr lang="de-DE" sz="1700" dirty="0"/>
              <a:t>Wiederholen und Anpassen</a:t>
            </a:r>
          </a:p>
        </p:txBody>
      </p:sp>
    </p:spTree>
    <p:extLst>
      <p:ext uri="{BB962C8B-B14F-4D97-AF65-F5344CB8AC3E}">
        <p14:creationId xmlns:p14="http://schemas.microsoft.com/office/powerpoint/2010/main" val="118667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de-DE"/>
            </a:defPPr>
          </a:lstStyle>
          <a:p>
            <a:pPr rtl="0"/>
            <a:r>
              <a:rPr lang="de-DE" dirty="0"/>
              <a:t>Metriken zum Einsatz als Referent*in</a:t>
            </a:r>
          </a:p>
        </p:txBody>
      </p:sp>
      <p:graphicFrame>
        <p:nvGraphicFramePr>
          <p:cNvPr id="13" name="Tabellenplatzhalter 3">
            <a:extLst>
              <a:ext uri="{FF2B5EF4-FFF2-40B4-BE49-F238E27FC236}">
                <a16:creationId xmlns:a16="http://schemas.microsoft.com/office/drawing/2014/main" id="{24F0E16C-0C56-89A4-2FE9-7D5EBE3963CC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567261769"/>
              </p:ext>
            </p:extLst>
          </p:nvPr>
        </p:nvGraphicFramePr>
        <p:xfrm>
          <a:off x="550863" y="1917700"/>
          <a:ext cx="11090276" cy="429768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032713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3391382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1851949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1814232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71628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Einflussfaktor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Messung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Ziel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Erreicht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71628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Publikumsinteraktion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Prozentsatz (%)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85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88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71628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Wissen bewahren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Prozentsatz (%)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75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80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71628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 dirty="0"/>
                        <a:t>Umfragen nach der Präsentation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Durchschnittliche Bewertung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4,2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4,5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71628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Empfehlungsrate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Prozentsatz (%)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10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12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71628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Möglichkeiten der Zusammenarbeit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Anzahl der Möglichkeiten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/>
                        <a:t>8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l" rtl="0"/>
                      <a:r>
                        <a:rPr lang="de-DE" b="0" dirty="0"/>
                        <a:t>10</a:t>
                      </a:r>
                      <a:endParaRPr lang="de-DE" b="0" i="0" dirty="0">
                        <a:latin typeface="Gill Sans MT" panose="020B0502020104020203" pitchFamily="34" charset="7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465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536" y="549274"/>
            <a:ext cx="5179330" cy="2841829"/>
          </a:xfrm>
          <a:noFill/>
        </p:spPr>
        <p:txBody>
          <a:bodyPr rtlCol="0" anchor="b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Vielen Dank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537" y="3646704"/>
            <a:ext cx="5179330" cy="2706160"/>
          </a:xfrm>
          <a:noFill/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Brita Tamm</a:t>
            </a:r>
          </a:p>
          <a:p>
            <a:pPr rtl="0"/>
            <a:r>
              <a:rPr lang="de-DE"/>
              <a:t>502-555-0152</a:t>
            </a:r>
          </a:p>
          <a:p>
            <a:pPr rtl="0"/>
            <a:r>
              <a:rPr lang="de-DE"/>
              <a:t>brita@firstupconsultants.com</a:t>
            </a:r>
          </a:p>
          <a:p>
            <a:pPr rtl="0"/>
            <a:r>
              <a:rPr lang="de-DE"/>
              <a:t>www.firstupconsultants.com</a:t>
            </a:r>
          </a:p>
        </p:txBody>
      </p:sp>
      <p:pic>
        <p:nvPicPr>
          <p:cNvPr id="25" name="Bildplatzhalter 24" descr="Nahaufnahme eines Netzwerks">
            <a:extLst>
              <a:ext uri="{FF2B5EF4-FFF2-40B4-BE49-F238E27FC236}">
                <a16:creationId xmlns:a16="http://schemas.microsoft.com/office/drawing/2014/main" id="{41A1C574-72C6-642F-E4D2-FF0C993AEF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"/>
          <a:stretch/>
        </p:blipFill>
        <p:spPr>
          <a:xfrm>
            <a:off x="5926138" y="549275"/>
            <a:ext cx="5654675" cy="5788025"/>
          </a:xfrm>
        </p:spPr>
      </p:pic>
    </p:spTree>
    <p:extLst>
      <p:ext uri="{BB962C8B-B14F-4D97-AF65-F5344CB8AC3E}">
        <p14:creationId xmlns:p14="http://schemas.microsoft.com/office/powerpoint/2010/main" val="2547630249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250_TF33713516_Win32" id="{FA432118-3671-4A9A-B6AE-C8E661E198BC}" vid="{CDB7179C-22AA-4A70-AACE-21A927A13D6D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342EE1-43E5-4AFB-895D-B61B9656DC14}">
  <ds:schemaRefs>
    <ds:schemaRef ds:uri="http://schemas.microsoft.com/office/2006/documentManagement/types"/>
    <ds:schemaRef ds:uri="http://schemas.microsoft.com/sharepoint/v3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230e9df3-be65-4c73-a93b-d1236ebd677e"/>
    <ds:schemaRef ds:uri="16c05727-aa75-4e4a-9b5f-8a80a1165891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{0EB4E3D9-A22F-4ECA-8E0D-785AA66CEFCD}tf33713516_win32</Template>
  <TotalTime>0</TotalTime>
  <Words>424</Words>
  <Application>Microsoft Office PowerPoint</Application>
  <PresentationFormat>Breitbild</PresentationFormat>
  <Paragraphs>132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Gill Sans MT</vt:lpstr>
      <vt:lpstr>Walbaum Display</vt:lpstr>
      <vt:lpstr>3DFloatVTI</vt:lpstr>
      <vt:lpstr>KI-Agenten</vt:lpstr>
      <vt:lpstr>Unterschiede von LLM‘s zu KI-Agenten</vt:lpstr>
      <vt:lpstr>Die Grundbausteine eines KI-Agenten</vt:lpstr>
      <vt:lpstr>Large Language Model</vt:lpstr>
      <vt:lpstr>System Prompt – Regeln und Rollen</vt:lpstr>
      <vt:lpstr>Einfaches Tool</vt:lpstr>
      <vt:lpstr>Speicher / Zustand Zwischenergebnisse merken</vt:lpstr>
      <vt:lpstr>Sehr simple Entscheidungslogik</vt:lpstr>
      <vt:lpstr>Auswählen visueller Hilfen</vt:lpstr>
      <vt:lpstr>Wirkung der Rede</vt:lpstr>
      <vt:lpstr>Dynamischer Vortrag</vt:lpstr>
      <vt:lpstr>Letzte Tipps und Erkenntnisse</vt:lpstr>
      <vt:lpstr>Metriken zum Einsatz als Referent*in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Huber Daniel - s2410307016</dc:creator>
  <cp:lastModifiedBy>Huber Daniel - s2410307016</cp:lastModifiedBy>
  <cp:revision>2</cp:revision>
  <dcterms:created xsi:type="dcterms:W3CDTF">2026-06-19T11:59:20Z</dcterms:created>
  <dcterms:modified xsi:type="dcterms:W3CDTF">2026-06-19T16:32:09Z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